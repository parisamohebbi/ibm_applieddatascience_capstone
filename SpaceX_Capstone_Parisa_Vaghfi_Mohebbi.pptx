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FA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ES-L1</c:v>
                  </c:pt>
                  <c:pt idx="1">
                    <c:v>GEO</c:v>
                  </c:pt>
                  <c:pt idx="2">
                    <c:v>HEO</c:v>
                  </c:pt>
                  <c:pt idx="3">
                    <c:v>SSO</c:v>
                  </c:pt>
                  <c:pt idx="4">
                    <c:v>VLEO</c:v>
                  </c:pt>
                  <c:pt idx="5">
                    <c:v>LEO</c:v>
                  </c:pt>
                  <c:pt idx="6">
                    <c:v>MEO</c:v>
                  </c:pt>
                  <c:pt idx="7">
                    <c:v>PO</c:v>
                  </c:pt>
                  <c:pt idx="8">
                    <c:v>ISS</c:v>
                  </c:pt>
                  <c:pt idx="9">
                    <c:v>GTO</c:v>
                  </c:pt>
                  <c:pt idx="10">
                    <c:v>SO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0.86</c:v>
                </c:pt>
                <c:pt idx="5">
                  <c:v>0.71</c:v>
                </c:pt>
                <c:pt idx="6">
                  <c:v>0.67</c:v>
                </c:pt>
                <c:pt idx="7">
                  <c:v>0.67</c:v>
                </c:pt>
                <c:pt idx="8">
                  <c:v>0.62</c:v>
                </c:pt>
                <c:pt idx="9">
                  <c:v>0.52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0.33</c:v>
                </c:pt>
                <c:pt idx="2">
                  <c:v>0.33</c:v>
                </c:pt>
                <c:pt idx="3">
                  <c:v>0.71</c:v>
                </c:pt>
                <c:pt idx="4">
                  <c:v>0.75</c:v>
                </c:pt>
                <c:pt idx="5">
                  <c:v>0.6</c:v>
                </c:pt>
                <c:pt idx="6">
                  <c:v>0.9</c:v>
                </c:pt>
                <c:pt idx="7">
                  <c:v>0.83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0A15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CCAFS SLC-40</c:v>
                  </c:pt>
                  <c:pt idx="1">
                    <c:v>KSC LC-39A</c:v>
                  </c:pt>
                  <c:pt idx="2">
                    <c:v>VAFB SLC-4E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22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B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B3A"/>
                </a:solidFill>
                <a:latin typeface="Arial"/>
              </a:rPr>
              <a:t>Success share — all sites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Success by site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5ED3F0"/>
              </a:solidFill>
              <a:effectLst/>
            </c:spPr>
          </c:dPt>
          <c:dPt>
            <c:idx val="2"/>
            <c:bubble3D val="0"/>
            <c:spPr>
              <a:solidFill>
                <a:srgbClr val="F5C542"/>
              </a:solidFill>
              <a:effectLst/>
            </c:spPr>
          </c:dPt>
          <c:dPt>
            <c:idx val="3"/>
            <c:bubble3D val="0"/>
            <c:spPr>
              <a:solidFill>
                <a:srgbClr val="8FA6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KSC LC-39A</c:v>
                </c:pt>
                <c:pt idx="1">
                  <c:v>CCAFS SLC-40</c:v>
                </c:pt>
                <c:pt idx="2">
                  <c:v>VAFB SLC-4E</c:v>
                </c:pt>
                <c:pt idx="3">
                  <c:v>CCAFS LC-40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41.7</c:v>
                </c:pt>
                <c:pt idx="1">
                  <c:v>29.2</c:v>
                </c:pt>
                <c:pt idx="2">
                  <c:v>16.7</c:v>
                </c:pt>
                <c:pt idx="3">
                  <c:v>12.5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B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B3A"/>
                </a:solidFill>
                <a:latin typeface="Arial"/>
              </a:rPr>
              <a:t>Payload vs outcome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rgbClr val="2FA8CC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2FA8CC"/>
              </a:solidFill>
              <a:ln w="9525" cap="flat">
                <a:solidFill>
                  <a:srgbClr val="2FA8C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500</c:v>
                </c:pt>
                <c:pt idx="1">
                  <c:v>2000</c:v>
                </c:pt>
                <c:pt idx="2">
                  <c:v>3000</c:v>
                </c:pt>
                <c:pt idx="3">
                  <c:v>4500</c:v>
                </c:pt>
                <c:pt idx="4">
                  <c:v>5500</c:v>
                </c:pt>
                <c:pt idx="5">
                  <c:v>6000</c:v>
                </c:pt>
                <c:pt idx="6">
                  <c:v>7000</c:v>
                </c:pt>
                <c:pt idx="7">
                  <c:v>9600</c:v>
                </c:pt>
                <c:pt idx="8">
                  <c:v>3100</c:v>
                </c:pt>
                <c:pt idx="9">
                  <c:v>4200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FA8C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8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2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SVM</c:v>
                  </c:pt>
                  <c:pt idx="2">
                    <c:v>KNN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</c:v>
                </c:pt>
                <c:pt idx="1">
                  <c:v>0.833</c:v>
                </c:pt>
                <c:pt idx="2">
                  <c:v>0.833</c:v>
                </c:pt>
                <c:pt idx="3">
                  <c:v>0.722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0B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an end-to-end study predicting whether the Falcon 9 first stage will land, which determines launch reusability and cost. GitHub link included per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the business case (reusability = cost), the pipeline, and the headline result of 83.3% accuracy with perfect recall on landings.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Introduction: reusability lowers cost; the task is to predict landing success as binary classification. List the guiding questions the study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overview: the five stages of the pipeline, left to right, and the tool stack used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collection &amp; wrangling: API + scraping feed a raw dataset; wrangling filters to Falcon 9, imputes payload mass, and turns messy outcome strings into a clean 0/1 Class label. Ends with 90 labelled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&amp; interactive analytics methodology: SQL for tabular profiling, Matplotlib/Seaborn for statistical visuals, Folium for geospatial context, and a Plotly Dash app for interactive exploration.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methodology: standardize, 80/20 split, GridSearchCV with 10-fold CV to tune four classifiers, then evaluate on the hold-out test set with accuracy and confusion matrices.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visualization results: success rate rises with flight number and over the years; some orbits are always successful; site and payload interact. Charts built from the wrangled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results: key figures — 4 sites, 45,596 kg NASA payload, first ground-pad landing Dec 2015, 98 successful missions, and the ranked landing outcomes from 2010–2017.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Folium results: all sites are coastal; success/failure marker clusters make ratios readable; proximity lines quantify distance to coastline, railway, highway and city. Map panel is a schematic of the actual interactive Folium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Plotly Dash results: interactive dashboard with site dropdown, payload slider, success pie/doughnut and payload-vs-outcome scatter. KSC LC-39A leads on success share; mid-range payloads land most reliably.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results: three models tie at 83.3% test accuracy. The confusion matrix (best model) shows 12 landings all correctly caught and 3 false positives — no missed landings. Decision Tree overfits, scoring 72.2%.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Innovative insights: flight number (experience) is the key driver; orbit proxies difficulty; recall matters more than accuracy for the business use-case; coastal site placement is an engineered safety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recap findings (experience, orbit, site; rising success), the 83.3% model with perfect recall, and next steps (more data, weather/sea-state features, ensembles). Close on the GitHub link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8-1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image" Target="../media/image-11-3.png"/><Relationship Id="rId6" Type="http://schemas.openxmlformats.org/officeDocument/2006/relationships/image" Target="../media/image-11-4.png"/><Relationship Id="rId7" Type="http://schemas.openxmlformats.org/officeDocument/2006/relationships/image" Target="../media/image-1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533"/>
          </a:solidFill>
          <a:ln/>
        </p:spPr>
      </p:sp>
      <p:sp>
        <p:nvSpPr>
          <p:cNvPr id="3" name="Shape 1"/>
          <p:cNvSpPr/>
          <p:nvPr/>
        </p:nvSpPr>
        <p:spPr>
          <a:xfrm>
            <a:off x="7436815" y="-2926080"/>
            <a:ext cx="7315200" cy="7315200"/>
          </a:xfrm>
          <a:prstGeom prst="ellipse">
            <a:avLst/>
          </a:prstGeom>
          <a:solidFill>
            <a:srgbClr val="12275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1224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34632" y="1489222"/>
            <a:ext cx="26091" cy="26091"/>
          </a:xfrm>
          <a:prstGeom prst="ellipse">
            <a:avLst/>
          </a:prstGeom>
          <a:solidFill>
            <a:srgbClr val="FFFFFF">
              <a:alpha val="5888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24736" y="1736990"/>
            <a:ext cx="26673" cy="26673"/>
          </a:xfrm>
          <a:prstGeom prst="ellipse">
            <a:avLst/>
          </a:prstGeom>
          <a:solidFill>
            <a:srgbClr val="FFFFFF">
              <a:alpha val="5633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89446" y="3311202"/>
            <a:ext cx="26427" cy="26427"/>
          </a:xfrm>
          <a:prstGeom prst="ellipse">
            <a:avLst/>
          </a:prstGeom>
          <a:solidFill>
            <a:srgbClr val="FFFFFF">
              <a:alpha val="4042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415309" y="4349191"/>
            <a:ext cx="21380" cy="21380"/>
          </a:xfrm>
          <a:prstGeom prst="ellipse">
            <a:avLst/>
          </a:prstGeom>
          <a:solidFill>
            <a:srgbClr val="FFFFFF">
              <a:alpha val="7906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64164" y="5020292"/>
            <a:ext cx="24694" cy="24694"/>
          </a:xfrm>
          <a:prstGeom prst="ellipse">
            <a:avLst/>
          </a:prstGeom>
          <a:solidFill>
            <a:srgbClr val="FFFFFF">
              <a:alpha val="7108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862916" y="2191838"/>
            <a:ext cx="24199" cy="24199"/>
          </a:xfrm>
          <a:prstGeom prst="ellipse">
            <a:avLst/>
          </a:prstGeom>
          <a:solidFill>
            <a:srgbClr val="FFFFFF">
              <a:alpha val="4567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62972" y="2383161"/>
            <a:ext cx="13688" cy="13688"/>
          </a:xfrm>
          <a:prstGeom prst="ellipse">
            <a:avLst/>
          </a:prstGeom>
          <a:solidFill>
            <a:srgbClr val="FFFFFF">
              <a:alpha val="4017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60352" y="5001595"/>
            <a:ext cx="17499" cy="17499"/>
          </a:xfrm>
          <a:prstGeom prst="ellipse">
            <a:avLst/>
          </a:prstGeom>
          <a:solidFill>
            <a:srgbClr val="FFFFFF">
              <a:alpha val="5120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94108" y="3866474"/>
            <a:ext cx="7815" cy="7815"/>
          </a:xfrm>
          <a:prstGeom prst="ellipse">
            <a:avLst/>
          </a:prstGeom>
          <a:solidFill>
            <a:srgbClr val="FFFFFF">
              <a:alpha val="5906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22030" y="163130"/>
            <a:ext cx="16427" cy="16427"/>
          </a:xfrm>
          <a:prstGeom prst="ellipse">
            <a:avLst/>
          </a:prstGeom>
          <a:solidFill>
            <a:srgbClr val="FFFFFF">
              <a:alpha val="7054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24488" y="6252898"/>
            <a:ext cx="18499" cy="18499"/>
          </a:xfrm>
          <a:prstGeom prst="ellipse">
            <a:avLst/>
          </a:prstGeom>
          <a:solidFill>
            <a:srgbClr val="FFFFFF">
              <a:alpha val="70024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119122" y="6049110"/>
            <a:ext cx="10803" cy="10803"/>
          </a:xfrm>
          <a:prstGeom prst="ellipse">
            <a:avLst/>
          </a:prstGeom>
          <a:solidFill>
            <a:srgbClr val="FFFFFF">
              <a:alpha val="4393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11972" y="2261100"/>
            <a:ext cx="22892" cy="22892"/>
          </a:xfrm>
          <a:prstGeom prst="ellipse">
            <a:avLst/>
          </a:prstGeom>
          <a:solidFill>
            <a:srgbClr val="FFFFFF">
              <a:alpha val="78499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7588" y="6488201"/>
            <a:ext cx="20990" cy="20990"/>
          </a:xfrm>
          <a:prstGeom prst="ellipse">
            <a:avLst/>
          </a:prstGeom>
          <a:solidFill>
            <a:srgbClr val="FFFFFF">
              <a:alpha val="35884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65757" y="6453746"/>
            <a:ext cx="26456" cy="26456"/>
          </a:xfrm>
          <a:prstGeom prst="ellipse">
            <a:avLst/>
          </a:prstGeom>
          <a:solidFill>
            <a:srgbClr val="FFFFFF">
              <a:alpha val="73619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7206" y="6391069"/>
            <a:ext cx="26376" cy="26376"/>
          </a:xfrm>
          <a:prstGeom prst="ellipse">
            <a:avLst/>
          </a:prstGeom>
          <a:solidFill>
            <a:srgbClr val="FFFFFF">
              <a:alpha val="27383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50838" y="3421503"/>
            <a:ext cx="18265" cy="18265"/>
          </a:xfrm>
          <a:prstGeom prst="ellipse">
            <a:avLst/>
          </a:prstGeom>
          <a:solidFill>
            <a:srgbClr val="FFFFFF">
              <a:alpha val="77114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78417" y="2794382"/>
            <a:ext cx="7837" cy="7837"/>
          </a:xfrm>
          <a:prstGeom prst="ellipse">
            <a:avLst/>
          </a:prstGeom>
          <a:solidFill>
            <a:srgbClr val="FFFFFF">
              <a:alpha val="5645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37224" y="3409039"/>
            <a:ext cx="20174" cy="20174"/>
          </a:xfrm>
          <a:prstGeom prst="ellipse">
            <a:avLst/>
          </a:prstGeom>
          <a:solidFill>
            <a:srgbClr val="FFFFFF">
              <a:alpha val="45527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60342" y="1624806"/>
            <a:ext cx="23737" cy="23737"/>
          </a:xfrm>
          <a:prstGeom prst="ellipse">
            <a:avLst/>
          </a:prstGeom>
          <a:solidFill>
            <a:srgbClr val="FFFFFF">
              <a:alpha val="4704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6596" y="6501018"/>
            <a:ext cx="8589" cy="8589"/>
          </a:xfrm>
          <a:prstGeom prst="ellipse">
            <a:avLst/>
          </a:prstGeom>
          <a:solidFill>
            <a:srgbClr val="FFFFFF">
              <a:alpha val="6577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344737" y="4745008"/>
            <a:ext cx="17698" cy="17698"/>
          </a:xfrm>
          <a:prstGeom prst="ellipse">
            <a:avLst/>
          </a:prstGeom>
          <a:solidFill>
            <a:srgbClr val="FFFFFF">
              <a:alpha val="41264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90504" y="5670109"/>
            <a:ext cx="10581" cy="10581"/>
          </a:xfrm>
          <a:prstGeom prst="ellipse">
            <a:avLst/>
          </a:prstGeom>
          <a:solidFill>
            <a:srgbClr val="FFFFFF">
              <a:alpha val="74019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04699" y="1571654"/>
            <a:ext cx="22008" cy="22008"/>
          </a:xfrm>
          <a:prstGeom prst="ellipse">
            <a:avLst/>
          </a:prstGeom>
          <a:solidFill>
            <a:srgbClr val="FFFFFF">
              <a:alpha val="64903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9237" y="1254978"/>
            <a:ext cx="12241" cy="12241"/>
          </a:xfrm>
          <a:prstGeom prst="ellipse">
            <a:avLst/>
          </a:prstGeom>
          <a:solidFill>
            <a:srgbClr val="FFFFFF">
              <a:alpha val="3292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769122" y="6413412"/>
            <a:ext cx="12327" cy="12327"/>
          </a:xfrm>
          <a:prstGeom prst="ellipse">
            <a:avLst/>
          </a:prstGeom>
          <a:solidFill>
            <a:srgbClr val="FFFFFF">
              <a:alpha val="66361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90523" y="6294291"/>
            <a:ext cx="21270" cy="21270"/>
          </a:xfrm>
          <a:prstGeom prst="ellipse">
            <a:avLst/>
          </a:prstGeom>
          <a:solidFill>
            <a:srgbClr val="FFFFFF">
              <a:alpha val="72182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96825" y="4368947"/>
            <a:ext cx="17216" cy="17216"/>
          </a:xfrm>
          <a:prstGeom prst="ellipse">
            <a:avLst/>
          </a:prstGeom>
          <a:solidFill>
            <a:srgbClr val="FFFFFF">
              <a:alpha val="3884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32297" y="1568715"/>
            <a:ext cx="22268" cy="22268"/>
          </a:xfrm>
          <a:prstGeom prst="ellipse">
            <a:avLst/>
          </a:prstGeom>
          <a:solidFill>
            <a:srgbClr val="FFFFFF">
              <a:alpha val="4240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370171" y="4666927"/>
            <a:ext cx="19787" cy="19787"/>
          </a:xfrm>
          <a:prstGeom prst="ellipse">
            <a:avLst/>
          </a:prstGeom>
          <a:solidFill>
            <a:srgbClr val="FFFFFF">
              <a:alpha val="50943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905299" y="4942916"/>
            <a:ext cx="25915" cy="25915"/>
          </a:xfrm>
          <a:prstGeom prst="ellipse">
            <a:avLst/>
          </a:prstGeom>
          <a:solidFill>
            <a:srgbClr val="FFFFFF">
              <a:alpha val="77362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907826" y="2566017"/>
            <a:ext cx="13583" cy="13583"/>
          </a:xfrm>
          <a:prstGeom prst="ellipse">
            <a:avLst/>
          </a:prstGeom>
          <a:solidFill>
            <a:srgbClr val="FFFFFF">
              <a:alpha val="7548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79743" y="1261563"/>
            <a:ext cx="10853" cy="10853"/>
          </a:xfrm>
          <a:prstGeom prst="ellipse">
            <a:avLst/>
          </a:prstGeom>
          <a:solidFill>
            <a:srgbClr val="FFFFFF">
              <a:alpha val="74519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97369" y="690886"/>
            <a:ext cx="11518" cy="11518"/>
          </a:xfrm>
          <a:prstGeom prst="ellipse">
            <a:avLst/>
          </a:prstGeom>
          <a:solidFill>
            <a:srgbClr val="FFFFFF">
              <a:alpha val="56802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31811" y="261320"/>
            <a:ext cx="19799" cy="19799"/>
          </a:xfrm>
          <a:prstGeom prst="ellipse">
            <a:avLst/>
          </a:prstGeom>
          <a:solidFill>
            <a:srgbClr val="FFFFFF">
              <a:alpha val="7394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036" y="650199"/>
            <a:ext cx="7880" cy="7880"/>
          </a:xfrm>
          <a:prstGeom prst="ellipse">
            <a:avLst/>
          </a:prstGeom>
          <a:solidFill>
            <a:srgbClr val="FFFFFF">
              <a:alpha val="51243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184223" y="3042855"/>
            <a:ext cx="7552" cy="7552"/>
          </a:xfrm>
          <a:prstGeom prst="ellipse">
            <a:avLst/>
          </a:prstGeom>
          <a:solidFill>
            <a:srgbClr val="FFFFFF">
              <a:alpha val="50501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32049" y="6084623"/>
            <a:ext cx="14094" cy="14094"/>
          </a:xfrm>
          <a:prstGeom prst="ellipse">
            <a:avLst/>
          </a:prstGeom>
          <a:solidFill>
            <a:srgbClr val="FFFFFF">
              <a:alpha val="560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99847" y="546835"/>
            <a:ext cx="24279" cy="24279"/>
          </a:xfrm>
          <a:prstGeom prst="ellipse">
            <a:avLst/>
          </a:prstGeom>
          <a:solidFill>
            <a:srgbClr val="FFFFFF">
              <a:alpha val="54449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10267" y="2854825"/>
            <a:ext cx="27427" cy="27427"/>
          </a:xfrm>
          <a:prstGeom prst="ellipse">
            <a:avLst/>
          </a:prstGeom>
          <a:solidFill>
            <a:srgbClr val="FFFFFF">
              <a:alpha val="76793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52946" y="4033926"/>
            <a:ext cx="9879" cy="9879"/>
          </a:xfrm>
          <a:prstGeom prst="ellipse">
            <a:avLst/>
          </a:prstGeom>
          <a:solidFill>
            <a:srgbClr val="FFFFFF">
              <a:alpha val="40289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82583" y="5523471"/>
            <a:ext cx="13110" cy="13110"/>
          </a:xfrm>
          <a:prstGeom prst="ellipse">
            <a:avLst/>
          </a:prstGeom>
          <a:solidFill>
            <a:srgbClr val="FFFFFF">
              <a:alpha val="47469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3298" y="4698794"/>
            <a:ext cx="24206" cy="24206"/>
          </a:xfrm>
          <a:prstGeom prst="ellipse">
            <a:avLst/>
          </a:prstGeom>
          <a:solidFill>
            <a:srgbClr val="FFFFFF">
              <a:alpha val="44011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022298" y="5539228"/>
            <a:ext cx="20566" cy="20566"/>
          </a:xfrm>
          <a:prstGeom prst="ellipse">
            <a:avLst/>
          </a:prstGeom>
          <a:solidFill>
            <a:srgbClr val="FFFFFF">
              <a:alpha val="44853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123040" y="6436107"/>
            <a:ext cx="7902" cy="7902"/>
          </a:xfrm>
          <a:prstGeom prst="ellipse">
            <a:avLst/>
          </a:prstGeom>
          <a:solidFill>
            <a:srgbClr val="FFFFFF">
              <a:alpha val="48637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099418" y="6288764"/>
            <a:ext cx="11299" cy="11299"/>
          </a:xfrm>
          <a:prstGeom prst="ellipse">
            <a:avLst/>
          </a:prstGeom>
          <a:solidFill>
            <a:srgbClr val="FFFFFF">
              <a:alpha val="25488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67903" y="1456531"/>
            <a:ext cx="19331" cy="19331"/>
          </a:xfrm>
          <a:prstGeom prst="ellipse">
            <a:avLst/>
          </a:prstGeom>
          <a:solidFill>
            <a:srgbClr val="FFFFFF">
              <a:alpha val="3312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65625" y="998743"/>
            <a:ext cx="22066" cy="22066"/>
          </a:xfrm>
          <a:prstGeom prst="ellipse">
            <a:avLst/>
          </a:prstGeom>
          <a:solidFill>
            <a:srgbClr val="FFFFFF">
              <a:alpha val="76287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3032" y="5338733"/>
            <a:ext cx="22234" cy="22234"/>
          </a:xfrm>
          <a:prstGeom prst="ellipse">
            <a:avLst/>
          </a:prstGeom>
          <a:solidFill>
            <a:srgbClr val="FFFFFF">
              <a:alpha val="3955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934166" y="3215834"/>
            <a:ext cx="19587" cy="19587"/>
          </a:xfrm>
          <a:prstGeom prst="ellipse">
            <a:avLst/>
          </a:prstGeom>
          <a:solidFill>
            <a:srgbClr val="FFFFFF">
              <a:alpha val="7842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121525" y="641379"/>
            <a:ext cx="8662" cy="8662"/>
          </a:xfrm>
          <a:prstGeom prst="ellipse">
            <a:avLst/>
          </a:prstGeom>
          <a:solidFill>
            <a:srgbClr val="FFFFFF">
              <a:alpha val="38752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5329" y="6420703"/>
            <a:ext cx="10071" cy="10071"/>
          </a:xfrm>
          <a:prstGeom prst="ellipse">
            <a:avLst/>
          </a:prstGeom>
          <a:solidFill>
            <a:srgbClr val="FFFFFF">
              <a:alpha val="49553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8886" y="1673137"/>
            <a:ext cx="14627" cy="14627"/>
          </a:xfrm>
          <a:prstGeom prst="ellipse">
            <a:avLst/>
          </a:prstGeom>
          <a:solidFill>
            <a:srgbClr val="FFFFFF">
              <a:alpha val="34099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943451" y="3078016"/>
            <a:ext cx="21335" cy="21335"/>
          </a:xfrm>
          <a:prstGeom prst="ellipse">
            <a:avLst/>
          </a:prstGeom>
          <a:solidFill>
            <a:srgbClr val="FFFFFF">
              <a:alpha val="64365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759019" y="390672"/>
            <a:ext cx="8340" cy="8340"/>
          </a:xfrm>
          <a:prstGeom prst="ellipse">
            <a:avLst/>
          </a:prstGeom>
          <a:solidFill>
            <a:srgbClr val="FFFFFF">
              <a:alpha val="73808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039858" y="1400440"/>
            <a:ext cx="17863" cy="17863"/>
          </a:xfrm>
          <a:prstGeom prst="ellipse">
            <a:avLst/>
          </a:prstGeom>
          <a:solidFill>
            <a:srgbClr val="FFFFFF">
              <a:alpha val="28477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959200" y="6022652"/>
            <a:ext cx="13147" cy="13147"/>
          </a:xfrm>
          <a:prstGeom prst="ellipse">
            <a:avLst/>
          </a:prstGeom>
          <a:solidFill>
            <a:srgbClr val="FFFFFF">
              <a:alpha val="61459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203594" y="5536641"/>
            <a:ext cx="10334" cy="10334"/>
          </a:xfrm>
          <a:prstGeom prst="ellipse">
            <a:avLst/>
          </a:prstGeom>
          <a:solidFill>
            <a:srgbClr val="FFFFFF">
              <a:alpha val="75655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43184" y="111742"/>
            <a:ext cx="22589" cy="22589"/>
          </a:xfrm>
          <a:prstGeom prst="ellipse">
            <a:avLst/>
          </a:prstGeom>
          <a:solidFill>
            <a:srgbClr val="FFFFFF">
              <a:alpha val="79893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296569" y="331288"/>
            <a:ext cx="17624" cy="17624"/>
          </a:xfrm>
          <a:prstGeom prst="ellipse">
            <a:avLst/>
          </a:prstGeom>
          <a:solidFill>
            <a:srgbClr val="FFFFFF">
              <a:alpha val="48369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423461" y="5856611"/>
            <a:ext cx="9348" cy="9348"/>
          </a:xfrm>
          <a:prstGeom prst="ellipse">
            <a:avLst/>
          </a:prstGeom>
          <a:solidFill>
            <a:srgbClr val="FFFFFF">
              <a:alpha val="73429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03271" y="2379045"/>
            <a:ext cx="22099" cy="22099"/>
          </a:xfrm>
          <a:prstGeom prst="ellipse">
            <a:avLst/>
          </a:prstGeom>
          <a:solidFill>
            <a:srgbClr val="FFFFFF">
              <a:alpha val="4167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91659" y="4291924"/>
            <a:ext cx="7946" cy="7946"/>
          </a:xfrm>
          <a:prstGeom prst="ellipse">
            <a:avLst/>
          </a:prstGeom>
          <a:solidFill>
            <a:srgbClr val="FFFFFF">
              <a:alpha val="4342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546417" y="5922580"/>
            <a:ext cx="18793" cy="18793"/>
          </a:xfrm>
          <a:prstGeom prst="ellipse">
            <a:avLst/>
          </a:prstGeom>
          <a:solidFill>
            <a:srgbClr val="FFFFFF">
              <a:alpha val="30462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39610" y="5916348"/>
            <a:ext cx="9689" cy="9689"/>
          </a:xfrm>
          <a:prstGeom prst="ellipse">
            <a:avLst/>
          </a:prstGeom>
          <a:solidFill>
            <a:srgbClr val="FFFFFF">
              <a:alpha val="42168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680572" y="1902560"/>
            <a:ext cx="17639" cy="17639"/>
          </a:xfrm>
          <a:prstGeom prst="ellipse">
            <a:avLst/>
          </a:prstGeom>
          <a:solidFill>
            <a:srgbClr val="FFFFFF">
              <a:alpha val="64965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700258" y="3448550"/>
            <a:ext cx="11846" cy="11846"/>
          </a:xfrm>
          <a:prstGeom prst="ellipse">
            <a:avLst/>
          </a:prstGeom>
          <a:solidFill>
            <a:srgbClr val="FFFFFF">
              <a:alpha val="75087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96608" y="1579651"/>
            <a:ext cx="18885" cy="18885"/>
          </a:xfrm>
          <a:prstGeom prst="ellipse">
            <a:avLst/>
          </a:prstGeom>
          <a:solidFill>
            <a:srgbClr val="FFFFFF">
              <a:alpha val="44694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599410" y="4593196"/>
            <a:ext cx="19881" cy="19881"/>
          </a:xfrm>
          <a:prstGeom prst="ellipse">
            <a:avLst/>
          </a:prstGeom>
          <a:solidFill>
            <a:srgbClr val="FFFFFF">
              <a:alpha val="76318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629391" y="3006519"/>
            <a:ext cx="22036" cy="22036"/>
          </a:xfrm>
          <a:prstGeom prst="ellipse">
            <a:avLst/>
          </a:prstGeom>
          <a:solidFill>
            <a:srgbClr val="FFFFFF">
              <a:alpha val="60638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6093757" y="798953"/>
            <a:ext cx="22866" cy="22866"/>
          </a:xfrm>
          <a:prstGeom prst="ellipse">
            <a:avLst/>
          </a:prstGeom>
          <a:solidFill>
            <a:srgbClr val="FFFFFF">
              <a:alpha val="67591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775969" y="3219832"/>
            <a:ext cx="7967" cy="7967"/>
          </a:xfrm>
          <a:prstGeom prst="ellipse">
            <a:avLst/>
          </a:prstGeom>
          <a:solidFill>
            <a:srgbClr val="FFFFFF">
              <a:alpha val="4082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461612" y="2310489"/>
            <a:ext cx="22540" cy="22540"/>
          </a:xfrm>
          <a:prstGeom prst="ellipse">
            <a:avLst/>
          </a:prstGeom>
          <a:solidFill>
            <a:srgbClr val="FFFFFF">
              <a:alpha val="60448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775464" y="1288256"/>
            <a:ext cx="14926" cy="14926"/>
          </a:xfrm>
          <a:prstGeom prst="ellipse">
            <a:avLst/>
          </a:prstGeom>
          <a:solidFill>
            <a:srgbClr val="FFFFFF">
              <a:alpha val="74192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146350" y="2354468"/>
            <a:ext cx="15425" cy="15425"/>
          </a:xfrm>
          <a:prstGeom prst="ellipse">
            <a:avLst/>
          </a:prstGeom>
          <a:solidFill>
            <a:srgbClr val="FFFFFF">
              <a:alpha val="31804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133023" y="5932458"/>
            <a:ext cx="26769" cy="26769"/>
          </a:xfrm>
          <a:prstGeom prst="ellipse">
            <a:avLst/>
          </a:prstGeom>
          <a:solidFill>
            <a:srgbClr val="FFFFFF">
              <a:alpha val="37851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1069524" y="761559"/>
            <a:ext cx="8476" cy="8476"/>
          </a:xfrm>
          <a:prstGeom prst="ellipse">
            <a:avLst/>
          </a:prstGeom>
          <a:solidFill>
            <a:srgbClr val="FFFFFF">
              <a:alpha val="27829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838352" y="6569104"/>
            <a:ext cx="15432" cy="15432"/>
          </a:xfrm>
          <a:prstGeom prst="ellipse">
            <a:avLst/>
          </a:prstGeom>
          <a:solidFill>
            <a:srgbClr val="FFFFFF">
              <a:alpha val="67602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771421" y="4728428"/>
            <a:ext cx="7901" cy="7901"/>
          </a:xfrm>
          <a:prstGeom prst="ellipse">
            <a:avLst/>
          </a:prstGeom>
          <a:solidFill>
            <a:srgbClr val="FFFFFF">
              <a:alpha val="6618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720345" y="3790862"/>
            <a:ext cx="16927" cy="16927"/>
          </a:xfrm>
          <a:prstGeom prst="ellipse">
            <a:avLst/>
          </a:prstGeom>
          <a:solidFill>
            <a:srgbClr val="FFFFFF">
              <a:alpha val="56837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2596380" y="6719741"/>
            <a:ext cx="21400" cy="21400"/>
          </a:xfrm>
          <a:prstGeom prst="ellipse">
            <a:avLst/>
          </a:prstGeom>
          <a:solidFill>
            <a:srgbClr val="FFFFFF">
              <a:alpha val="56548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2121213" y="3270397"/>
            <a:ext cx="19581" cy="19581"/>
          </a:xfrm>
          <a:prstGeom prst="ellipse">
            <a:avLst/>
          </a:prstGeom>
          <a:solidFill>
            <a:srgbClr val="FFFFFF">
              <a:alpha val="53769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2047419" y="1232165"/>
            <a:ext cx="13458" cy="13458"/>
          </a:xfrm>
          <a:prstGeom prst="ellipse">
            <a:avLst/>
          </a:prstGeom>
          <a:solidFill>
            <a:srgbClr val="FFFFFF">
              <a:alpha val="69549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739925" y="520377"/>
            <a:ext cx="26623" cy="26623"/>
          </a:xfrm>
          <a:prstGeom prst="ellipse">
            <a:avLst/>
          </a:prstGeom>
          <a:solidFill>
            <a:srgbClr val="FFFFFF">
              <a:alpha val="7197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501890" y="6130366"/>
            <a:ext cx="14870" cy="14870"/>
          </a:xfrm>
          <a:prstGeom prst="ellipse">
            <a:avLst/>
          </a:prstGeom>
          <a:solidFill>
            <a:srgbClr val="FFFFFF">
              <a:alpha val="73949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986847" y="4515467"/>
            <a:ext cx="11478" cy="11478"/>
          </a:xfrm>
          <a:prstGeom prst="ellipse">
            <a:avLst/>
          </a:prstGeom>
          <a:solidFill>
            <a:srgbClr val="FFFFFF">
              <a:alpha val="29298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5013396" y="6259013"/>
            <a:ext cx="24395" cy="24395"/>
          </a:xfrm>
          <a:prstGeom prst="ellipse">
            <a:avLst/>
          </a:prstGeom>
          <a:solidFill>
            <a:srgbClr val="FFFFFF">
              <a:alpha val="77218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7849554" y="4164336"/>
            <a:ext cx="27295" cy="27295"/>
          </a:xfrm>
          <a:prstGeom prst="ellipse">
            <a:avLst/>
          </a:prstGeom>
          <a:solidFill>
            <a:srgbClr val="FFFFFF">
              <a:alpha val="3505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474730" y="4496770"/>
            <a:ext cx="24400" cy="24400"/>
          </a:xfrm>
          <a:prstGeom prst="ellipse">
            <a:avLst/>
          </a:prstGeom>
          <a:solidFill>
            <a:srgbClr val="FFFFFF">
              <a:alpha val="64417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544587" y="1075649"/>
            <a:ext cx="8011" cy="8011"/>
          </a:xfrm>
          <a:prstGeom prst="ellipse">
            <a:avLst/>
          </a:prstGeom>
          <a:solidFill>
            <a:srgbClr val="FFFFFF">
              <a:alpha val="35609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945575" y="1965960"/>
            <a:ext cx="2331720" cy="2331720"/>
          </a:xfrm>
          <a:prstGeom prst="ellipse">
            <a:avLst/>
          </a:prstGeom>
          <a:solidFill>
            <a:srgbClr val="0E1D46"/>
          </a:solidFill>
          <a:ln w="15875">
            <a:solidFill>
              <a:srgbClr val="5ED3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9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3943" y="2606040"/>
            <a:ext cx="1005840" cy="1005840"/>
          </a:xfrm>
          <a:prstGeom prst="rect">
            <a:avLst/>
          </a:prstGeom>
        </p:spPr>
      </p:pic>
      <p:sp>
        <p:nvSpPr>
          <p:cNvPr id="97" name="Text 94"/>
          <p:cNvSpPr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APPLIED DATA SCIENCE CAPSTONE  •  FINAL PROJECT</a:t>
            </a:r>
            <a:endParaRPr lang="en-US" sz="1300" dirty="0"/>
          </a:p>
        </p:txBody>
      </p:sp>
      <p:sp>
        <p:nvSpPr>
          <p:cNvPr id="98" name="Text 95"/>
          <p:cNvSpPr/>
          <p:nvPr/>
        </p:nvSpPr>
        <p:spPr>
          <a:xfrm>
            <a:off x="777240" y="18745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SpaceX Falcon 9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First Stage Landing Prediction</a:t>
            </a:r>
            <a:endParaRPr lang="en-US" sz="4400" dirty="0"/>
          </a:p>
        </p:txBody>
      </p:sp>
      <p:sp>
        <p:nvSpPr>
          <p:cNvPr id="99" name="Text 96"/>
          <p:cNvSpPr/>
          <p:nvPr/>
        </p:nvSpPr>
        <p:spPr>
          <a:xfrm>
            <a:off x="82296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reusable-rocket landing success to estimate launch cost — an end-to-end data science study.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822960" y="489204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3234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1" name="Text 98"/>
          <p:cNvSpPr/>
          <p:nvPr/>
        </p:nvSpPr>
        <p:spPr>
          <a:xfrm>
            <a:off x="1051560" y="4956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pPr algn="l" indent="0" marL="0">
              <a:buNone/>
            </a:pPr>
            <a:r>
              <a:rPr lang="en-US" sz="19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Parisa Vaghfi Mohebbi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5806440" y="4892040"/>
            <a:ext cx="5532120" cy="868680"/>
          </a:xfrm>
          <a:prstGeom prst="roundRect">
            <a:avLst>
              <a:gd name="adj" fmla="val 12632"/>
            </a:avLst>
          </a:prstGeom>
          <a:solidFill>
            <a:srgbClr val="0E1D46"/>
          </a:solidFill>
          <a:ln w="12700">
            <a:solidFill>
              <a:srgbClr val="29406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5138928"/>
            <a:ext cx="384048" cy="384048"/>
          </a:xfrm>
          <a:prstGeom prst="rect">
            <a:avLst/>
          </a:prstGeom>
        </p:spPr>
      </p:pic>
      <p:sp>
        <p:nvSpPr>
          <p:cNvPr id="104" name="Text 100">
            <a:hlinkClick r:id="rIdundefined" tooltip=""/>
          </p:cNvPr>
          <p:cNvSpPr/>
          <p:nvPr/>
        </p:nvSpPr>
        <p:spPr>
          <a:xfrm>
            <a:off x="6583680" y="49560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spc="100" kern="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
</a:t>
            </a:r>
            <a:pPr indent="0" marL="0">
              <a:buNone/>
            </a:pPr>
            <a:r>
              <a:rPr lang="en-US" sz="1150" b="1" u="sng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github.com/ParisaMohebbi/IBM_AppliedDataScience_Capstone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launch records to a landing-prediction model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9893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story in brief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~$62M versus $165M+ for competitors — the saving comes from re-flying the first stage.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that stage lands lets us estimate launch cost and informs competitive bidding.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gathered from the SpaceX REST API and Wikipedia, wrangled into a clean labelled dataset, explored with SQL, Python visuals and an interactive Folium map, then modelled with four classifiers tuned by grid search.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28523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classifiers reached </a:t>
            </a:r>
            <a:pPr indent="0" marL="0">
              <a:buNone/>
            </a:pPr>
            <a:r>
              <a:rPr lang="en-US" sz="1200" b="1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 </a:t>
            </a:r>
            <a:pPr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 correctly flagging every successful landing in the hold-out set.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12280" y="1600200"/>
            <a:ext cx="25146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68312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00253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</a:t>
            </a:r>
            <a:endParaRPr lang="en-US" sz="3300" dirty="0"/>
          </a:p>
        </p:txBody>
      </p:sp>
      <p:sp>
        <p:nvSpPr>
          <p:cNvPr id="17" name="Text 12"/>
          <p:cNvSpPr/>
          <p:nvPr/>
        </p:nvSpPr>
        <p:spPr>
          <a:xfrm>
            <a:off x="7040880" y="3172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records analysed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582912" y="1600200"/>
            <a:ext cx="25146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838944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02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11512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66.7%</a:t>
            </a:r>
            <a:endParaRPr lang="en-US" sz="3300" dirty="0"/>
          </a:p>
        </p:txBody>
      </p:sp>
      <p:sp>
        <p:nvSpPr>
          <p:cNvPr id="22" name="Text 16"/>
          <p:cNvSpPr/>
          <p:nvPr/>
        </p:nvSpPr>
        <p:spPr>
          <a:xfrm>
            <a:off x="9811512" y="3172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landing success rate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812280" y="4069080"/>
            <a:ext cx="25146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68312" y="434340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4471416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500176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300" dirty="0"/>
          </a:p>
        </p:txBody>
      </p:sp>
      <p:sp>
        <p:nvSpPr>
          <p:cNvPr id="27" name="Text 20"/>
          <p:cNvSpPr/>
          <p:nvPr/>
        </p:nvSpPr>
        <p:spPr>
          <a:xfrm>
            <a:off x="7040880" y="5641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tuned &amp; compared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9582912" y="4069080"/>
            <a:ext cx="2514600" cy="2212848"/>
          </a:xfrm>
          <a:prstGeom prst="roundRect">
            <a:avLst>
              <a:gd name="adj" fmla="val 4132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838944" y="4343400"/>
            <a:ext cx="603504" cy="603504"/>
          </a:xfrm>
          <a:prstGeom prst="ellipse">
            <a:avLst/>
          </a:prstGeom>
          <a:solidFill>
            <a:srgbClr val="13234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4471416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11512" y="500176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83.3%</a:t>
            </a:r>
            <a:endParaRPr lang="en-US" sz="3300" dirty="0"/>
          </a:p>
        </p:txBody>
      </p:sp>
      <p:sp>
        <p:nvSpPr>
          <p:cNvPr id="32" name="Text 24"/>
          <p:cNvSpPr/>
          <p:nvPr/>
        </p:nvSpPr>
        <p:spPr>
          <a:xfrm>
            <a:off x="9811512" y="5641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test accuracy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Background, problem and the questions we answer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67665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first-stage landings matter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28600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rocket launch is expensive, but SpaceX reuses the Falcon 9 first stage — cutting the cost of a launch from over $165M to roughly $62M.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determine whether the first stage will land, we can estimate the cost of a launch. A rival company bidding against SpaceX could use exactly this information to price its own proposals.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prediction problem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2960" y="4617720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launch conditions — site, payload mass, orbit, booster version, number of prior flights, grid fins, legs and reuse count —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binary outcome: will the first stage successfully land (1) or not (0)?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5715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supervised binary-classification task.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571232" y="1600200"/>
            <a:ext cx="4069080" cy="4617720"/>
          </a:xfrm>
          <a:prstGeom prst="roundRect">
            <a:avLst>
              <a:gd name="adj" fmla="val 2247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51169" y="1595232"/>
            <a:ext cx="21528" cy="21528"/>
          </a:xfrm>
          <a:prstGeom prst="ellipse">
            <a:avLst/>
          </a:prstGeom>
          <a:solidFill>
            <a:srgbClr val="FFFFFF">
              <a:alpha val="42929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4092852" y="4340666"/>
            <a:ext cx="10065" cy="10065"/>
          </a:xfrm>
          <a:prstGeom prst="ellipse">
            <a:avLst/>
          </a:prstGeom>
          <a:solidFill>
            <a:srgbClr val="FFFFFF">
              <a:alpha val="46826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2388481" y="2570545"/>
            <a:ext cx="16401" cy="16401"/>
          </a:xfrm>
          <a:prstGeom prst="ellipse">
            <a:avLst/>
          </a:prstGeom>
          <a:solidFill>
            <a:srgbClr val="FFFFFF">
              <a:alpha val="35333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815339" y="2042201"/>
            <a:ext cx="25385" cy="25385"/>
          </a:xfrm>
          <a:prstGeom prst="ellipse">
            <a:avLst/>
          </a:prstGeom>
          <a:solidFill>
            <a:srgbClr val="FFFFFF">
              <a:alpha val="33572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6806507" y="5972969"/>
            <a:ext cx="25595" cy="25595"/>
          </a:xfrm>
          <a:prstGeom prst="ellipse">
            <a:avLst/>
          </a:prstGeom>
          <a:solidFill>
            <a:srgbClr val="FFFFFF">
              <a:alpha val="4426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1790812" y="2848181"/>
            <a:ext cx="27211" cy="27211"/>
          </a:xfrm>
          <a:prstGeom prst="ellipse">
            <a:avLst/>
          </a:prstGeom>
          <a:solidFill>
            <a:srgbClr val="FFFFFF">
              <a:alpha val="7215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9518699" y="6807171"/>
            <a:ext cx="12850" cy="12850"/>
          </a:xfrm>
          <a:prstGeom prst="ellipse">
            <a:avLst/>
          </a:prstGeom>
          <a:solidFill>
            <a:srgbClr val="FFFFFF">
              <a:alpha val="56809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940822" y="6589272"/>
            <a:ext cx="22497" cy="22497"/>
          </a:xfrm>
          <a:prstGeom prst="ellipse">
            <a:avLst/>
          </a:prstGeom>
          <a:solidFill>
            <a:srgbClr val="FFFFFF">
              <a:alpha val="43731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514763" y="1347817"/>
            <a:ext cx="10454" cy="10454"/>
          </a:xfrm>
          <a:prstGeom prst="ellipse">
            <a:avLst/>
          </a:prstGeom>
          <a:solidFill>
            <a:srgbClr val="FFFFFF">
              <a:alpha val="43781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1997352" y="6746140"/>
            <a:ext cx="17452" cy="17452"/>
          </a:xfrm>
          <a:prstGeom prst="ellipse">
            <a:avLst/>
          </a:prstGeom>
          <a:solidFill>
            <a:srgbClr val="FFFFFF">
              <a:alpha val="75971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6815287" y="3903574"/>
            <a:ext cx="14185" cy="14185"/>
          </a:xfrm>
          <a:prstGeom prst="ellipse">
            <a:avLst/>
          </a:prstGeom>
          <a:solidFill>
            <a:srgbClr val="FFFFFF">
              <a:alpha val="63572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3304740" y="2641453"/>
            <a:ext cx="19775" cy="19775"/>
          </a:xfrm>
          <a:prstGeom prst="ellipse">
            <a:avLst/>
          </a:prstGeom>
          <a:solidFill>
            <a:srgbClr val="FFFFFF">
              <a:alpha val="78561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7570788" y="6431109"/>
            <a:ext cx="12368" cy="12368"/>
          </a:xfrm>
          <a:prstGeom prst="ellipse">
            <a:avLst/>
          </a:prstGeom>
          <a:solidFill>
            <a:srgbClr val="FFFFFF">
              <a:alpha val="54393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8174310" y="2487877"/>
            <a:ext cx="14068" cy="14068"/>
          </a:xfrm>
          <a:prstGeom prst="ellipse">
            <a:avLst/>
          </a:prstGeom>
          <a:solidFill>
            <a:srgbClr val="FFFFFF">
              <a:alpha val="67117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9480235" y="4443089"/>
            <a:ext cx="8234" cy="8234"/>
          </a:xfrm>
          <a:prstGeom prst="ellipse">
            <a:avLst/>
          </a:prstGeom>
          <a:solidFill>
            <a:srgbClr val="FFFFFF">
              <a:alpha val="29822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9983414" y="3576079"/>
            <a:ext cx="11009" cy="11009"/>
          </a:xfrm>
          <a:prstGeom prst="ellipse">
            <a:avLst/>
          </a:prstGeom>
          <a:solidFill>
            <a:srgbClr val="FFFFFF">
              <a:alpha val="65407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953992" y="56180"/>
            <a:ext cx="15441" cy="15441"/>
          </a:xfrm>
          <a:prstGeom prst="ellipse">
            <a:avLst/>
          </a:prstGeom>
          <a:solidFill>
            <a:srgbClr val="FFFFFF">
              <a:alpha val="72699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9785654" y="4466725"/>
            <a:ext cx="9359" cy="9359"/>
          </a:xfrm>
          <a:prstGeom prst="ellipse">
            <a:avLst/>
          </a:prstGeom>
          <a:solidFill>
            <a:srgbClr val="FFFFFF">
              <a:alpha val="25898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5171332" y="2753048"/>
            <a:ext cx="26787" cy="26787"/>
          </a:xfrm>
          <a:prstGeom prst="ellipse">
            <a:avLst/>
          </a:prstGeom>
          <a:solidFill>
            <a:srgbClr val="FFFFFF">
              <a:alpha val="72347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5473824" y="1180483"/>
            <a:ext cx="11599" cy="11599"/>
          </a:xfrm>
          <a:prstGeom prst="ellipse">
            <a:avLst/>
          </a:prstGeom>
          <a:solidFill>
            <a:srgbClr val="FFFFFF">
              <a:alpha val="43652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157100" y="426361"/>
            <a:ext cx="16444" cy="16444"/>
          </a:xfrm>
          <a:prstGeom prst="ellipse">
            <a:avLst/>
          </a:prstGeom>
          <a:solidFill>
            <a:srgbClr val="FFFFFF">
              <a:alpha val="30122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1262338" y="1676018"/>
            <a:ext cx="12762" cy="12762"/>
          </a:xfrm>
          <a:prstGeom prst="ellipse">
            <a:avLst/>
          </a:prstGeom>
          <a:solidFill>
            <a:srgbClr val="FFFFFF">
              <a:alpha val="38546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5478214" y="3574785"/>
            <a:ext cx="15952" cy="15952"/>
          </a:xfrm>
          <a:prstGeom prst="ellipse">
            <a:avLst/>
          </a:prstGeom>
          <a:solidFill>
            <a:srgbClr val="FFFFFF">
              <a:alpha val="53308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914064" y="3751997"/>
            <a:ext cx="22784" cy="22784"/>
          </a:xfrm>
          <a:prstGeom prst="ellipse">
            <a:avLst/>
          </a:prstGeom>
          <a:solidFill>
            <a:srgbClr val="FFFFFF">
              <a:alpha val="60827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6384230" y="4916987"/>
            <a:ext cx="22580" cy="22580"/>
          </a:xfrm>
          <a:prstGeom prst="ellipse">
            <a:avLst/>
          </a:prstGeom>
          <a:solidFill>
            <a:srgbClr val="FFFFFF">
              <a:alpha val="37338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9094959" y="4953088"/>
            <a:ext cx="21796" cy="21796"/>
          </a:xfrm>
          <a:prstGeom prst="ellipse">
            <a:avLst/>
          </a:prstGeom>
          <a:solidFill>
            <a:srgbClr val="FFFFFF">
              <a:alpha val="65001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7992647" y="5299634"/>
            <a:ext cx="21674" cy="21674"/>
          </a:xfrm>
          <a:prstGeom prst="ellipse">
            <a:avLst/>
          </a:prstGeom>
          <a:solidFill>
            <a:srgbClr val="FFFFFF">
              <a:alpha val="26347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4281413" y="3331957"/>
            <a:ext cx="9300" cy="9300"/>
          </a:xfrm>
          <a:prstGeom prst="ellipse">
            <a:avLst/>
          </a:prstGeom>
          <a:solidFill>
            <a:srgbClr val="FFFFFF">
              <a:alpha val="32056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68463" y="3029391"/>
            <a:ext cx="22424" cy="22424"/>
          </a:xfrm>
          <a:prstGeom prst="ellipse">
            <a:avLst/>
          </a:prstGeom>
          <a:solidFill>
            <a:srgbClr val="FFFFFF">
              <a:alpha val="42065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5137257" y="2783270"/>
            <a:ext cx="26524" cy="26524"/>
          </a:xfrm>
          <a:prstGeom prst="ellipse">
            <a:avLst/>
          </a:prstGeom>
          <a:solidFill>
            <a:srgbClr val="FFFFFF">
              <a:alpha val="55016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3081685" y="1492926"/>
            <a:ext cx="26568" cy="26568"/>
          </a:xfrm>
          <a:prstGeom prst="ellipse">
            <a:avLst/>
          </a:prstGeom>
          <a:solidFill>
            <a:srgbClr val="FFFFFF">
              <a:alpha val="41033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10909916" y="2375694"/>
            <a:ext cx="11131" cy="11131"/>
          </a:xfrm>
          <a:prstGeom prst="ellipse">
            <a:avLst/>
          </a:prstGeom>
          <a:solidFill>
            <a:srgbClr val="FFFFFF">
              <a:alpha val="57832"/>
            </a:srgbClr>
          </a:solidFill>
          <a:ln/>
        </p:spPr>
      </p:sp>
      <p:sp>
        <p:nvSpPr>
          <p:cNvPr id="49" name="Text 44"/>
          <p:cNvSpPr/>
          <p:nvPr/>
        </p:nvSpPr>
        <p:spPr>
          <a:xfrm>
            <a:off x="7863840" y="1847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questions</a:t>
            </a:r>
            <a:endParaRPr lang="en-US" sz="1700" dirty="0"/>
          </a:p>
        </p:txBody>
      </p:sp>
      <p:sp>
        <p:nvSpPr>
          <p:cNvPr id="50" name="Shape 45"/>
          <p:cNvSpPr/>
          <p:nvPr/>
        </p:nvSpPr>
        <p:spPr>
          <a:xfrm>
            <a:off x="7863840" y="2377440"/>
            <a:ext cx="384048" cy="384048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51" name="Text 46"/>
          <p:cNvSpPr/>
          <p:nvPr/>
        </p:nvSpPr>
        <p:spPr>
          <a:xfrm>
            <a:off x="78638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52" name="Text 47"/>
          <p:cNvSpPr/>
          <p:nvPr/>
        </p:nvSpPr>
        <p:spPr>
          <a:xfrm>
            <a:off x="8394192" y="23317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launch site, payload and orbit relate to landing success?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7863840" y="3319272"/>
            <a:ext cx="384048" cy="384048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54" name="Text 49"/>
          <p:cNvSpPr/>
          <p:nvPr/>
        </p:nvSpPr>
        <p:spPr>
          <a:xfrm>
            <a:off x="78638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55" name="Text 50"/>
          <p:cNvSpPr/>
          <p:nvPr/>
        </p:nvSpPr>
        <p:spPr>
          <a:xfrm>
            <a:off x="8394192" y="32735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success rate improved over the years?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7863840" y="4261104"/>
            <a:ext cx="384048" cy="384048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57" name="Text 52"/>
          <p:cNvSpPr/>
          <p:nvPr/>
        </p:nvSpPr>
        <p:spPr>
          <a:xfrm>
            <a:off x="78638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58" name="Text 53"/>
          <p:cNvSpPr/>
          <p:nvPr/>
        </p:nvSpPr>
        <p:spPr>
          <a:xfrm>
            <a:off x="8394192" y="421538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orbits achieve the highest success rates?</a:t>
            </a:r>
            <a:endParaRPr lang="en-US" sz="1200" dirty="0"/>
          </a:p>
        </p:txBody>
      </p:sp>
      <p:sp>
        <p:nvSpPr>
          <p:cNvPr id="59" name="Shape 54"/>
          <p:cNvSpPr/>
          <p:nvPr/>
        </p:nvSpPr>
        <p:spPr>
          <a:xfrm>
            <a:off x="7863840" y="5202936"/>
            <a:ext cx="384048" cy="384048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60" name="Text 55"/>
          <p:cNvSpPr/>
          <p:nvPr/>
        </p:nvSpPr>
        <p:spPr>
          <a:xfrm>
            <a:off x="78638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61" name="Text 56"/>
          <p:cNvSpPr/>
          <p:nvPr/>
        </p:nvSpPr>
        <p:spPr>
          <a:xfrm>
            <a:off x="8394192" y="515721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classifier best predicts a landing, and how accurately?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end-to-end data science workflow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33856" y="2514600"/>
            <a:ext cx="914400" cy="914400"/>
          </a:xfrm>
          <a:prstGeom prst="ellipse">
            <a:avLst/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72491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566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" y="395020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94944" y="459028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+ Wikipedia web scraping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3758184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16352" y="219456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01568" y="2514600"/>
            <a:ext cx="914400" cy="914400"/>
          </a:xfrm>
          <a:prstGeom prst="ellipse">
            <a:avLst/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724912"/>
            <a:ext cx="493776" cy="4937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16352" y="3566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2926080" y="395020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Wrangling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2962656" y="459028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Falcon 9, label outcomes, handle nulls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3758184"/>
            <a:ext cx="256032" cy="25603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084064" y="219456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669280" y="2514600"/>
            <a:ext cx="914400" cy="914400"/>
          </a:xfrm>
          <a:prstGeom prst="ellipse">
            <a:avLst/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2724912"/>
            <a:ext cx="493776" cy="4937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84064" y="3566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5193792" y="395020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5230368" y="459028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+ Python visual analytics</a:t>
            </a:r>
            <a:endParaRPr lang="en-US" sz="10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758184"/>
            <a:ext cx="256032" cy="25603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351776" y="219456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7936992" y="2514600"/>
            <a:ext cx="914400" cy="914400"/>
          </a:xfrm>
          <a:prstGeom prst="ellipse">
            <a:avLst/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4" y="2724912"/>
            <a:ext cx="493776" cy="49377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351776" y="3566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7461504" y="395020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Interactive Viz</a:t>
            </a:r>
            <a:endParaRPr lang="en-US" sz="1450" dirty="0"/>
          </a:p>
        </p:txBody>
      </p:sp>
      <p:sp>
        <p:nvSpPr>
          <p:cNvPr id="33" name="Text 23"/>
          <p:cNvSpPr/>
          <p:nvPr/>
        </p:nvSpPr>
        <p:spPr>
          <a:xfrm>
            <a:off x="7498080" y="459028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+ Plotly Dash dashboard</a:t>
            </a:r>
            <a:endParaRPr lang="en-US" sz="10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3758184"/>
            <a:ext cx="256032" cy="256032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9619488" y="219456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10204704" y="2514600"/>
            <a:ext cx="914400" cy="914400"/>
          </a:xfrm>
          <a:prstGeom prst="ellipse">
            <a:avLst/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5016" y="2724912"/>
            <a:ext cx="493776" cy="49377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619488" y="35661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27"/>
          <p:cNvSpPr/>
          <p:nvPr/>
        </p:nvSpPr>
        <p:spPr>
          <a:xfrm>
            <a:off x="9729216" y="395020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Predictive Modelling</a:t>
            </a:r>
            <a:endParaRPr lang="en-US" sz="1450" dirty="0"/>
          </a:p>
        </p:txBody>
      </p:sp>
      <p:sp>
        <p:nvSpPr>
          <p:cNvPr id="40" name="Text 28"/>
          <p:cNvSpPr/>
          <p:nvPr/>
        </p:nvSpPr>
        <p:spPr>
          <a:xfrm>
            <a:off x="9765792" y="459028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tune &amp; evaluate 4 classifiers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AF1FB"/>
          </a:solidFill>
          <a:ln/>
        </p:spPr>
      </p:sp>
      <p:sp>
        <p:nvSpPr>
          <p:cNvPr id="42" name="Text 30"/>
          <p:cNvSpPr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BeautifulSoup · SQLite · Matplotlib · Seaborn · Folium · Plotly Dash ·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STAGE 1–2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collection &amp; wrangling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84248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4884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request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41248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SpaceX REST API (/launches/past), normalised nested JSON with Pandas, and enriched booster, payload, launchpad and core details via helper API calls.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41248" y="4361688"/>
            <a:ext cx="2980944" cy="411480"/>
          </a:xfrm>
          <a:prstGeom prst="roundRect">
            <a:avLst>
              <a:gd name="adj" fmla="val 17778"/>
            </a:avLst>
          </a:prstGeom>
          <a:solidFill>
            <a:srgbClr val="EAF1FB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" y="4361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→ JSON → DataFrame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06824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81144" y="1984248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14884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95544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 scraping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599432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the Wikipedia Falcon 9 launch-records table with BeautifulSoup, parsed HTML &lt;table&gt; rows and built a structured DataFrame of historic launches.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99432" y="4361688"/>
            <a:ext cx="2980944" cy="411480"/>
          </a:xfrm>
          <a:prstGeom prst="roundRect">
            <a:avLst>
              <a:gd name="adj" fmla="val 17778"/>
            </a:avLst>
          </a:prstGeom>
          <a:solidFill>
            <a:srgbClr val="EAF1FB"/>
          </a:solidFill>
          <a:ln/>
        </p:spPr>
      </p:sp>
      <p:sp>
        <p:nvSpPr>
          <p:cNvPr id="20" name="Text 15"/>
          <p:cNvSpPr/>
          <p:nvPr/>
        </p:nvSpPr>
        <p:spPr>
          <a:xfrm>
            <a:off x="4599432" y="4361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BeautifulSoup → HTML table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65008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39328" y="1984248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4884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53728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Wrangling &amp; labelling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357616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Falcon 9, replaced missing PayloadMass with the mean, and converted mission outcomes into a binary Class label (1 = landed, 0 = failed).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357616" y="4361688"/>
            <a:ext cx="2980944" cy="411480"/>
          </a:xfrm>
          <a:prstGeom prst="roundRect">
            <a:avLst>
              <a:gd name="adj" fmla="val 17778"/>
            </a:avLst>
          </a:prstGeom>
          <a:solidFill>
            <a:srgbClr val="EAF1FB"/>
          </a:solidFill>
          <a:ln/>
        </p:spPr>
      </p:sp>
      <p:sp>
        <p:nvSpPr>
          <p:cNvPr id="27" name="Text 21"/>
          <p:cNvSpPr/>
          <p:nvPr/>
        </p:nvSpPr>
        <p:spPr>
          <a:xfrm>
            <a:off x="8357616" y="436168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→ Class {0,1}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stage 1–2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68680" y="5623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 </a:t>
            </a:r>
            <a:pPr indent="0" marL="0">
              <a:buNone/>
            </a:pPr>
            <a:r>
              <a:rPr lang="en-US" sz="11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launch records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3630168" y="5623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pPr indent="0" marL="0">
              <a:buNone/>
            </a:pPr>
            <a:r>
              <a:rPr lang="en-US" sz="11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6391656" y="5623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(Class)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9153144" y="5623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28.9%  </a:t>
            </a:r>
            <a:pPr indent="0" marL="0">
              <a:buNone/>
            </a:pPr>
            <a:r>
              <a:rPr lang="en-US" sz="11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 nulls resolved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STAGE 3–4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&amp; interactive visual analytics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56816"/>
            <a:ext cx="566928" cy="56692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848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83794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with SQL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0" y="1810512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dataset into SQLite and ran 10 analytical queries — distinct sites, payload aggregates, first successful landing, outcome rankings — to profile the data.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548640" y="2898648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163824"/>
            <a:ext cx="566928" cy="56692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918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044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with visualization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0" y="3017520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Matplotlib &amp; Seaborn scatter, bar and line plots to relate flight number, payload, orbit and launch site to landing success and yearly trends.</a:t>
            </a:r>
            <a:endParaRPr lang="en-US" sz="1180" dirty="0"/>
          </a:p>
        </p:txBody>
      </p:sp>
      <p:sp>
        <p:nvSpPr>
          <p:cNvPr id="17" name="Shape 12"/>
          <p:cNvSpPr/>
          <p:nvPr/>
        </p:nvSpPr>
        <p:spPr>
          <a:xfrm>
            <a:off x="548640" y="4105656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370832"/>
            <a:ext cx="566928" cy="56692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Folium interactive map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72000" y="4224528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all launch sites, colour-coded success/failure marker clusters, and measured distances from a site to coastline, railway, highway and city.</a:t>
            </a:r>
            <a:endParaRPr lang="en-US" sz="1180" dirty="0"/>
          </a:p>
        </p:txBody>
      </p:sp>
      <p:sp>
        <p:nvSpPr>
          <p:cNvPr id="22" name="Shape 16"/>
          <p:cNvSpPr/>
          <p:nvPr/>
        </p:nvSpPr>
        <p:spPr>
          <a:xfrm>
            <a:off x="548640" y="531266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5577840"/>
            <a:ext cx="566928" cy="56692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705856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5458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Plotly Dash dashboard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572000" y="5431536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web app with a site dropdown, payload range slider, success pie chart and payload-vs-outcome scatter for on-the-fly exploration.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STAGE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Predictive analysis (classification)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29968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18541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41248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with StandardScaler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2523744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64992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639312" y="2029968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18541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16552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Split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65760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 (72 vs 18)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2523744"/>
            <a:ext cx="237744" cy="23774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181344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455664" y="2029968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185416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32904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Tune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6473952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10-fold cross-validation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536" y="2523744"/>
            <a:ext cx="237744" cy="237744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997696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9272016" y="2029968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7464" y="2185416"/>
            <a:ext cx="347472" cy="3474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0049256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9" name="Text 19"/>
          <p:cNvSpPr/>
          <p:nvPr/>
        </p:nvSpPr>
        <p:spPr>
          <a:xfrm>
            <a:off x="9290304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confusion matrix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548640" y="38404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classifiers compared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868680" y="4526280"/>
            <a:ext cx="164592" cy="164592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33" name="Text 23"/>
          <p:cNvSpPr/>
          <p:nvPr/>
        </p:nvSpPr>
        <p:spPr>
          <a:xfrm>
            <a:off x="1143000" y="4407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</a:t>
            </a:r>
            <a:pPr indent="0" marL="0">
              <a:buNone/>
            </a:pPr>
            <a:r>
              <a:rPr lang="en-US" sz="11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C, penalty, solver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868680" y="4946904"/>
            <a:ext cx="164592" cy="164592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35" name="Text 25"/>
          <p:cNvSpPr/>
          <p:nvPr/>
        </p:nvSpPr>
        <p:spPr>
          <a:xfrm>
            <a:off x="1143000" y="4828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 </a:t>
            </a:r>
            <a:pPr indent="0" marL="0">
              <a:buNone/>
            </a:pPr>
            <a:r>
              <a:rPr lang="en-US" sz="11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kernel, C, gamma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68680" y="5367528"/>
            <a:ext cx="164592" cy="164592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37" name="Text 27"/>
          <p:cNvSpPr/>
          <p:nvPr/>
        </p:nvSpPr>
        <p:spPr>
          <a:xfrm>
            <a:off x="1143000" y="5248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</a:t>
            </a:r>
            <a:pPr indent="0" marL="0">
              <a:buNone/>
            </a:pPr>
            <a:r>
              <a:rPr lang="en-US" sz="11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criterion, depth, splitter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868680" y="5788152"/>
            <a:ext cx="164592" cy="164592"/>
          </a:xfrm>
          <a:prstGeom prst="ellipse">
            <a:avLst/>
          </a:prstGeom>
          <a:solidFill>
            <a:srgbClr val="5ED3F0"/>
          </a:solidFill>
          <a:ln/>
        </p:spPr>
      </p:sp>
      <p:sp>
        <p:nvSpPr>
          <p:cNvPr id="39" name="Text 29"/>
          <p:cNvSpPr/>
          <p:nvPr/>
        </p:nvSpPr>
        <p:spPr>
          <a:xfrm>
            <a:off x="1143000" y="5669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 </a:t>
            </a:r>
            <a:pPr indent="0" marL="0">
              <a:buNone/>
            </a:pPr>
            <a:r>
              <a:rPr lang="en-US" sz="11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n_neighbors, p, algorithm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5989320" y="3840480"/>
            <a:ext cx="5650992" cy="2377440"/>
          </a:xfrm>
          <a:prstGeom prst="roundRect">
            <a:avLst>
              <a:gd name="adj" fmla="val 3846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62636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models are scored</a:t>
            </a:r>
            <a:endParaRPr lang="en-US" sz="1600" dirty="0"/>
          </a:p>
        </p:txBody>
      </p:sp>
      <p:sp>
        <p:nvSpPr>
          <p:cNvPr id="42" name="Text 32"/>
          <p:cNvSpPr/>
          <p:nvPr/>
        </p:nvSpPr>
        <p:spPr>
          <a:xfrm>
            <a:off x="626364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picks the best hyper-parameters via 10-fold CV on the training set. 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tuned model is then scored on the untouched 18-record test set. 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reveals how landings vs non-landings are confused — critical when a false ‘land’ prediction is costlier than a miss.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with visualization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Landing success rate by orbit type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084832"/>
          <a:ext cx="54406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355080" y="1600200"/>
            <a:ext cx="52852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Launch success — yearly trend</a:t>
            </a:r>
            <a:endParaRPr lang="en-US" sz="13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46520" y="2084832"/>
          <a:ext cx="5074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4023360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Launches per site</a:t>
            </a:r>
            <a:endParaRPr lang="en-US" sz="135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640080" y="4480560"/>
          <a:ext cx="54406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hape 10"/>
          <p:cNvSpPr/>
          <p:nvPr/>
        </p:nvSpPr>
        <p:spPr>
          <a:xfrm>
            <a:off x="6355080" y="4023360"/>
            <a:ext cx="5285232" cy="2194560"/>
          </a:xfrm>
          <a:prstGeom prst="roundRect">
            <a:avLst>
              <a:gd name="adj" fmla="val 4167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6294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visuals reveal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5902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67728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climbs steadily with flight number — the program learned to land.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157216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7728" y="5093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&amp; SSO orbits show 100% success; GTO is far more variable.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724144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67728" y="56601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land more reliably at KSC LC-39A than other sites.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with SQL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640080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 analytical queries — selected findings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40280"/>
          <a:ext cx="58521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246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Query</a:t>
                      </a:r>
                      <a:endParaRPr lang="en-US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Distinct launch sites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8CC"/>
                          </a:solidFill>
                        </a:rPr>
                        <a:t>4 sites (CCAFS LC-40, SLC-40, KSC LC-39A, VAFB SLC-4E)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Total NASA (CRS) payload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45,596 kg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Avg payload — F9 v1.1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8CC"/>
                          </a:solidFill>
                        </a:rPr>
                        <a:t>2,928.4 kg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First successful ground-pad landing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22 Dec 2015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Boosters: drone-ship success, 4–6 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8CC"/>
                          </a:solidFill>
                        </a:rPr>
                        <a:t>B1022, B1026, B1021.2, B1031.2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Mission outcomes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98 success · 1 in-flight failure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Max-payload booster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A8CC"/>
                          </a:solidFill>
                        </a:rPr>
                        <a:t>F9 B5 series (15,600 kg)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2015 drone-ship failures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B3A"/>
                          </a:solidFill>
                        </a:rPr>
                        <a:t>2 (both CCAFS LC-40)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114032" y="1600200"/>
            <a:ext cx="4526280" cy="2331720"/>
          </a:xfrm>
          <a:prstGeom prst="roundRect">
            <a:avLst>
              <a:gd name="adj" fmla="val 3922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609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360920" y="214884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Landing_Outcome,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cnt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SPACEXTABLE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'2010-06-04'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'2017-03-20'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Landing_Outcome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cnt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14032" y="4114800"/>
            <a:ext cx="4526280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3159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Ranked landing outcomes, 2010–2017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60920" y="48006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 (10)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early records, followed by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drone-ship successes and failures (5 each)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Ground-pad successes (3) grew as the technology matured.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Interactive map with Folium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Geospatial findings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231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 launch sites sit near the coast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536192" y="27432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Florida (CCAFS/KSC) and California (VAFB) pads are on coastlines — a safety buffer for launch trajectories.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22960" y="3584448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7216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36192" y="3538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Success clusters are colour-coded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536192" y="404164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vs red markers grouped with MarkerCluster make each site's success ratio readable at a glance.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22960" y="4882896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02005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48371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Proximity distances measured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536192" y="5340096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lines from a site to the nearest coastline, railway, highway and city quantify infrastructure and safety spacing.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5285232" y="1600200"/>
            <a:ext cx="6355080" cy="4617720"/>
          </a:xfrm>
          <a:prstGeom prst="roundRect">
            <a:avLst>
              <a:gd name="adj" fmla="val 1980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67706" y="1701241"/>
            <a:ext cx="16965" cy="16965"/>
          </a:xfrm>
          <a:prstGeom prst="ellipse">
            <a:avLst/>
          </a:prstGeom>
          <a:solidFill>
            <a:srgbClr val="FFFFFF">
              <a:alpha val="2697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160967" y="86342"/>
            <a:ext cx="13574" cy="13574"/>
          </a:xfrm>
          <a:prstGeom prst="ellipse">
            <a:avLst/>
          </a:prstGeom>
          <a:solidFill>
            <a:srgbClr val="FFFFFF">
              <a:alpha val="37319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187516" y="1829888"/>
            <a:ext cx="26490" cy="26490"/>
          </a:xfrm>
          <a:prstGeom prst="ellipse">
            <a:avLst/>
          </a:prstGeom>
          <a:solidFill>
            <a:srgbClr val="FFFFFF">
              <a:alpha val="30239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3023674" y="6593211"/>
            <a:ext cx="9274" cy="9274"/>
          </a:xfrm>
          <a:prstGeom prst="ellipse">
            <a:avLst/>
          </a:prstGeom>
          <a:solidFill>
            <a:srgbClr val="FFFFFF">
              <a:alpha val="43077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2648851" y="67645"/>
            <a:ext cx="26495" cy="26495"/>
          </a:xfrm>
          <a:prstGeom prst="ellipse">
            <a:avLst/>
          </a:prstGeom>
          <a:solidFill>
            <a:srgbClr val="FFFFFF">
              <a:alpha val="72438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18708" y="3504524"/>
            <a:ext cx="10106" cy="10106"/>
          </a:xfrm>
          <a:prstGeom prst="ellipse">
            <a:avLst/>
          </a:prstGeom>
          <a:solidFill>
            <a:srgbClr val="FFFFFF">
              <a:alpha val="4363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9274427" y="4373180"/>
            <a:ext cx="12013" cy="12013"/>
          </a:xfrm>
          <a:prstGeom prst="ellipse">
            <a:avLst/>
          </a:prstGeom>
          <a:solidFill>
            <a:srgbClr val="FFFFFF">
              <a:alpha val="73443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621291" y="1318948"/>
            <a:ext cx="7379" cy="7379"/>
          </a:xfrm>
          <a:prstGeom prst="ellipse">
            <a:avLst/>
          </a:prstGeom>
          <a:solidFill>
            <a:srgbClr val="FFFFFF">
              <a:alpha val="36261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11635418" y="5687160"/>
            <a:ext cx="13094" cy="13094"/>
          </a:xfrm>
          <a:prstGeom prst="ellipse">
            <a:avLst/>
          </a:prstGeom>
          <a:solidFill>
            <a:srgbClr val="FFFFFF">
              <a:alpha val="28502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172674" y="6471150"/>
            <a:ext cx="18477" cy="18477"/>
          </a:xfrm>
          <a:prstGeom prst="ellipse">
            <a:avLst/>
          </a:prstGeom>
          <a:solidFill>
            <a:srgbClr val="FFFFFF">
              <a:alpha val="26402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2206086" y="1554251"/>
            <a:ext cx="9870" cy="9870"/>
          </a:xfrm>
          <a:prstGeom prst="ellipse">
            <a:avLst/>
          </a:prstGeom>
          <a:solidFill>
            <a:srgbClr val="FFFFFF">
              <a:alpha val="5712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4490357" y="6091796"/>
            <a:ext cx="8631" cy="8631"/>
          </a:xfrm>
          <a:prstGeom prst="ellipse">
            <a:avLst/>
          </a:prstGeom>
          <a:solidFill>
            <a:srgbClr val="FFFFFF">
              <a:alpha val="58189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8229603" y="3743119"/>
            <a:ext cx="21961" cy="21961"/>
          </a:xfrm>
          <a:prstGeom prst="ellipse">
            <a:avLst/>
          </a:prstGeom>
          <a:solidFill>
            <a:srgbClr val="FFFFFF">
              <a:alpha val="30286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3339337" y="5345553"/>
            <a:ext cx="27262" cy="27262"/>
          </a:xfrm>
          <a:prstGeom prst="ellipse">
            <a:avLst/>
          </a:prstGeom>
          <a:solidFill>
            <a:srgbClr val="FFFFFF">
              <a:alpha val="43351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11794713" y="2432432"/>
            <a:ext cx="10128" cy="10128"/>
          </a:xfrm>
          <a:prstGeom prst="ellipse">
            <a:avLst/>
          </a:prstGeom>
          <a:solidFill>
            <a:srgbClr val="FFFFFF">
              <a:alpha val="41024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4997926" y="761089"/>
            <a:ext cx="15760" cy="15760"/>
          </a:xfrm>
          <a:prstGeom prst="ellipse">
            <a:avLst/>
          </a:prstGeom>
          <a:solidFill>
            <a:srgbClr val="FFFFFF">
              <a:alpha val="4843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12148840" y="3548856"/>
            <a:ext cx="12616" cy="12616"/>
          </a:xfrm>
          <a:prstGeom prst="ellipse">
            <a:avLst/>
          </a:prstGeom>
          <a:solidFill>
            <a:srgbClr val="FFFFFF">
              <a:alpha val="68284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5101196" y="6139068"/>
            <a:ext cx="10880" cy="10880"/>
          </a:xfrm>
          <a:prstGeom prst="ellipse">
            <a:avLst/>
          </a:prstGeom>
          <a:solidFill>
            <a:srgbClr val="FFFFFF">
              <a:alpha val="50341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10797134" y="2097058"/>
            <a:ext cx="13283" cy="13283"/>
          </a:xfrm>
          <a:prstGeom prst="ellipse">
            <a:avLst/>
          </a:prstGeom>
          <a:solidFill>
            <a:srgbClr val="FFFFFF">
              <a:alpha val="44166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187307" y="736159"/>
            <a:ext cx="19578" cy="19578"/>
          </a:xfrm>
          <a:prstGeom prst="ellipse">
            <a:avLst/>
          </a:prstGeom>
          <a:solidFill>
            <a:srgbClr val="FFFFFF">
              <a:alpha val="40255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4729299" y="1209704"/>
            <a:ext cx="24299" cy="24299"/>
          </a:xfrm>
          <a:prstGeom prst="ellipse">
            <a:avLst/>
          </a:prstGeom>
          <a:solidFill>
            <a:srgbClr val="FFFFFF">
              <a:alpha val="49472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9371634" y="5465028"/>
            <a:ext cx="7827" cy="7827"/>
          </a:xfrm>
          <a:prstGeom prst="ellipse">
            <a:avLst/>
          </a:prstGeom>
          <a:solidFill>
            <a:srgbClr val="FFFFFF">
              <a:alpha val="35829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12157620" y="1479462"/>
            <a:ext cx="21323" cy="21323"/>
          </a:xfrm>
          <a:prstGeom prst="ellipse">
            <a:avLst/>
          </a:prstGeom>
          <a:solidFill>
            <a:srgbClr val="FFFFFF">
              <a:alpha val="32597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6615124" y="5932341"/>
            <a:ext cx="23561" cy="23561"/>
          </a:xfrm>
          <a:prstGeom prst="ellipse">
            <a:avLst/>
          </a:prstGeom>
          <a:solidFill>
            <a:srgbClr val="FFFFFF">
              <a:alpha val="56752"/>
            </a:srgbClr>
          </a:solidFill>
          <a:ln/>
        </p:spPr>
      </p:sp>
      <p:sp>
        <p:nvSpPr>
          <p:cNvPr id="46" name="Shape 40"/>
          <p:cNvSpPr/>
          <p:nvPr/>
        </p:nvSpPr>
        <p:spPr>
          <a:xfrm>
            <a:off x="8849222" y="1720997"/>
            <a:ext cx="12801" cy="12801"/>
          </a:xfrm>
          <a:prstGeom prst="ellipse">
            <a:avLst/>
          </a:prstGeom>
          <a:solidFill>
            <a:srgbClr val="FFFFFF">
              <a:alpha val="41750"/>
            </a:srgbClr>
          </a:solidFill>
          <a:ln/>
        </p:spPr>
      </p:sp>
      <p:sp>
        <p:nvSpPr>
          <p:cNvPr id="47" name="Shape 41"/>
          <p:cNvSpPr/>
          <p:nvPr/>
        </p:nvSpPr>
        <p:spPr>
          <a:xfrm>
            <a:off x="7420796" y="3492765"/>
            <a:ext cx="11148" cy="11148"/>
          </a:xfrm>
          <a:prstGeom prst="ellipse">
            <a:avLst/>
          </a:prstGeom>
          <a:solidFill>
            <a:srgbClr val="FFFFFF">
              <a:alpha val="63642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6694771" y="4304977"/>
            <a:ext cx="22078" cy="22078"/>
          </a:xfrm>
          <a:prstGeom prst="ellipse">
            <a:avLst/>
          </a:prstGeom>
          <a:solidFill>
            <a:srgbClr val="FFFFFF">
              <a:alpha val="35513"/>
            </a:srgbClr>
          </a:solidFill>
          <a:ln/>
        </p:spPr>
      </p:sp>
      <p:sp>
        <p:nvSpPr>
          <p:cNvPr id="49" name="Shape 43"/>
          <p:cNvSpPr/>
          <p:nvPr/>
        </p:nvSpPr>
        <p:spPr>
          <a:xfrm>
            <a:off x="5166001" y="2294966"/>
            <a:ext cx="21501" cy="21501"/>
          </a:xfrm>
          <a:prstGeom prst="ellipse">
            <a:avLst/>
          </a:prstGeom>
          <a:solidFill>
            <a:srgbClr val="FFFFFF">
              <a:alpha val="25264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6296325" y="4490067"/>
            <a:ext cx="22580" cy="22580"/>
          </a:xfrm>
          <a:prstGeom prst="ellipse">
            <a:avLst/>
          </a:prstGeom>
          <a:solidFill>
            <a:srgbClr val="FFFFFF">
              <a:alpha val="41724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904343" y="899613"/>
            <a:ext cx="13144" cy="13144"/>
          </a:xfrm>
          <a:prstGeom prst="ellipse">
            <a:avLst/>
          </a:prstGeom>
          <a:solidFill>
            <a:srgbClr val="FFFFFF">
              <a:alpha val="59089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6449766" y="4900936"/>
            <a:ext cx="27220" cy="27220"/>
          </a:xfrm>
          <a:prstGeom prst="ellipse">
            <a:avLst/>
          </a:prstGeom>
          <a:solidFill>
            <a:srgbClr val="FFFFFF">
              <a:alpha val="59704"/>
            </a:srgbClr>
          </a:solidFill>
          <a:ln/>
        </p:spPr>
      </p:sp>
      <p:sp>
        <p:nvSpPr>
          <p:cNvPr id="53" name="Shape 47"/>
          <p:cNvSpPr/>
          <p:nvPr/>
        </p:nvSpPr>
        <p:spPr>
          <a:xfrm>
            <a:off x="4720310" y="2185370"/>
            <a:ext cx="8679" cy="8679"/>
          </a:xfrm>
          <a:prstGeom prst="ellipse">
            <a:avLst/>
          </a:prstGeom>
          <a:solidFill>
            <a:srgbClr val="FFFFFF">
              <a:alpha val="40176"/>
            </a:srgbClr>
          </a:solidFill>
          <a:ln/>
        </p:spPr>
      </p:sp>
      <p:sp>
        <p:nvSpPr>
          <p:cNvPr id="54" name="Shape 48"/>
          <p:cNvSpPr/>
          <p:nvPr/>
        </p:nvSpPr>
        <p:spPr>
          <a:xfrm>
            <a:off x="9563331" y="288249"/>
            <a:ext cx="10171" cy="10171"/>
          </a:xfrm>
          <a:prstGeom prst="ellipse">
            <a:avLst/>
          </a:prstGeom>
          <a:solidFill>
            <a:srgbClr val="FFFFFF">
              <a:alpha val="35813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8636620" y="394905"/>
            <a:ext cx="23254" cy="23254"/>
          </a:xfrm>
          <a:prstGeom prst="ellipse">
            <a:avLst/>
          </a:prstGeom>
          <a:solidFill>
            <a:srgbClr val="FFFFFF">
              <a:alpha val="53404"/>
            </a:srgbClr>
          </a:solidFill>
          <a:ln/>
        </p:spPr>
      </p:sp>
      <p:sp>
        <p:nvSpPr>
          <p:cNvPr id="56" name="Shape 50"/>
          <p:cNvSpPr/>
          <p:nvPr/>
        </p:nvSpPr>
        <p:spPr>
          <a:xfrm>
            <a:off x="10820548" y="1150673"/>
            <a:ext cx="23091" cy="23091"/>
          </a:xfrm>
          <a:prstGeom prst="ellipse">
            <a:avLst/>
          </a:prstGeom>
          <a:solidFill>
            <a:srgbClr val="FFFFFF">
              <a:alpha val="77332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4224447" y="184885"/>
            <a:ext cx="26570" cy="26570"/>
          </a:xfrm>
          <a:prstGeom prst="ellipse">
            <a:avLst/>
          </a:prstGeom>
          <a:solidFill>
            <a:srgbClr val="FFFFFF">
              <a:alpha val="39018"/>
            </a:srgbClr>
          </a:solidFill>
          <a:ln/>
        </p:spPr>
      </p:sp>
      <p:sp>
        <p:nvSpPr>
          <p:cNvPr id="58" name="Shape 52"/>
          <p:cNvSpPr/>
          <p:nvPr/>
        </p:nvSpPr>
        <p:spPr>
          <a:xfrm>
            <a:off x="7662664" y="206875"/>
            <a:ext cx="23013" cy="23013"/>
          </a:xfrm>
          <a:prstGeom prst="ellipse">
            <a:avLst/>
          </a:prstGeom>
          <a:solidFill>
            <a:srgbClr val="FFFFFF">
              <a:alpha val="79696"/>
            </a:srgbClr>
          </a:solidFill>
          <a:ln/>
        </p:spPr>
      </p:sp>
      <p:sp>
        <p:nvSpPr>
          <p:cNvPr id="59" name="Shape 53"/>
          <p:cNvSpPr/>
          <p:nvPr/>
        </p:nvSpPr>
        <p:spPr>
          <a:xfrm>
            <a:off x="8341444" y="5957976"/>
            <a:ext cx="18876" cy="18876"/>
          </a:xfrm>
          <a:prstGeom prst="ellipse">
            <a:avLst/>
          </a:prstGeom>
          <a:solidFill>
            <a:srgbClr val="FFFFFF">
              <a:alpha val="61525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5207183" y="5161521"/>
            <a:ext cx="15401" cy="15401"/>
          </a:xfrm>
          <a:prstGeom prst="ellipse">
            <a:avLst/>
          </a:prstGeom>
          <a:solidFill>
            <a:srgbClr val="FFFFFF">
              <a:alpha val="32038"/>
            </a:srgbClr>
          </a:solidFill>
          <a:ln/>
        </p:spPr>
      </p:sp>
      <p:sp>
        <p:nvSpPr>
          <p:cNvPr id="61" name="Shape 55"/>
          <p:cNvSpPr/>
          <p:nvPr/>
        </p:nvSpPr>
        <p:spPr>
          <a:xfrm>
            <a:off x="11655695" y="2050844"/>
            <a:ext cx="19791" cy="19791"/>
          </a:xfrm>
          <a:prstGeom prst="ellipse">
            <a:avLst/>
          </a:prstGeom>
          <a:solidFill>
            <a:srgbClr val="FFFFFF">
              <a:alpha val="46913"/>
            </a:srgbClr>
          </a:solidFill>
          <a:ln/>
        </p:spPr>
      </p:sp>
      <p:sp>
        <p:nvSpPr>
          <p:cNvPr id="62" name="Text 56"/>
          <p:cNvSpPr/>
          <p:nvPr/>
        </p:nvSpPr>
        <p:spPr>
          <a:xfrm>
            <a:off x="55778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Launch sites — United States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5577840" y="2331720"/>
            <a:ext cx="5760720" cy="3611880"/>
          </a:xfrm>
          <a:prstGeom prst="roundRect">
            <a:avLst>
              <a:gd name="adj" fmla="val 3038"/>
            </a:avLst>
          </a:prstGeom>
          <a:solidFill>
            <a:srgbClr val="0E1D46"/>
          </a:solidFill>
          <a:ln w="12700">
            <a:solidFill>
              <a:srgbClr val="29406F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5989320" y="2651760"/>
            <a:ext cx="0" cy="3017520"/>
          </a:xfrm>
          <a:prstGeom prst="line">
            <a:avLst/>
          </a:prstGeom>
          <a:noFill/>
          <a:ln w="12700">
            <a:solidFill>
              <a:srgbClr val="29406F"/>
            </a:solidFill>
            <a:prstDash val="dash"/>
          </a:ln>
        </p:spPr>
      </p:sp>
      <p:sp>
        <p:nvSpPr>
          <p:cNvPr id="65" name="Shape 59"/>
          <p:cNvSpPr/>
          <p:nvPr/>
        </p:nvSpPr>
        <p:spPr>
          <a:xfrm>
            <a:off x="10698480" y="2651760"/>
            <a:ext cx="0" cy="3017520"/>
          </a:xfrm>
          <a:prstGeom prst="line">
            <a:avLst/>
          </a:prstGeom>
          <a:noFill/>
          <a:ln w="12700">
            <a:solidFill>
              <a:srgbClr val="29406F"/>
            </a:solidFill>
            <a:prstDash val="dash"/>
          </a:ln>
        </p:spPr>
      </p:sp>
      <p:sp>
        <p:nvSpPr>
          <p:cNvPr id="66" name="Shape 60"/>
          <p:cNvSpPr/>
          <p:nvPr/>
        </p:nvSpPr>
        <p:spPr>
          <a:xfrm>
            <a:off x="6309360" y="4114800"/>
            <a:ext cx="292608" cy="292608"/>
          </a:xfrm>
          <a:prstGeom prst="ellipse">
            <a:avLst/>
          </a:prstGeom>
          <a:solidFill>
            <a:srgbClr val="F871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486400" y="44256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
</a:t>
            </a:r>
            <a:pPr algn="ctr" indent="0" marL="0">
              <a:buNone/>
            </a:pPr>
            <a:r>
              <a:rPr lang="en-US" sz="9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launches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10058400" y="3794760"/>
            <a:ext cx="292608" cy="292608"/>
          </a:xfrm>
          <a:prstGeom prst="ellipse">
            <a:avLst/>
          </a:prstGeom>
          <a:solidFill>
            <a:srgbClr val="2DD4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9235440" y="41056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
</a:t>
            </a:r>
            <a:pPr algn="ctr" indent="0" marL="0">
              <a:buNone/>
            </a:pPr>
            <a:r>
              <a:rPr lang="en-US" sz="9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launches</a:t>
            </a:r>
            <a:endParaRPr lang="en-US" sz="1050" dirty="0"/>
          </a:p>
        </p:txBody>
      </p:sp>
      <p:sp>
        <p:nvSpPr>
          <p:cNvPr id="70" name="Shape 64"/>
          <p:cNvSpPr/>
          <p:nvPr/>
        </p:nvSpPr>
        <p:spPr>
          <a:xfrm>
            <a:off x="10287000" y="4160520"/>
            <a:ext cx="292608" cy="292608"/>
          </a:xfrm>
          <a:prstGeom prst="ellipse">
            <a:avLst/>
          </a:prstGeom>
          <a:solidFill>
            <a:srgbClr val="5ED3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9464040" y="4471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
</a:t>
            </a:r>
            <a:pPr algn="ctr" indent="0" marL="0">
              <a:buNone/>
            </a:pPr>
            <a:r>
              <a:rPr lang="en-US" sz="9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launches</a:t>
            </a:r>
            <a:endParaRPr lang="en-US" sz="1050" dirty="0"/>
          </a:p>
        </p:txBody>
      </p:sp>
      <p:sp>
        <p:nvSpPr>
          <p:cNvPr id="72" name="Text 66"/>
          <p:cNvSpPr/>
          <p:nvPr/>
        </p:nvSpPr>
        <p:spPr>
          <a:xfrm>
            <a:off x="562356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Coast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964692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Coast (Florida)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Plotly Dash interactive dashboard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71780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6720840" cy="457200"/>
          </a:xfrm>
          <a:prstGeom prst="roundRect">
            <a:avLst>
              <a:gd name="adj" fmla="val 12000"/>
            </a:avLst>
          </a:prstGeom>
          <a:solidFill>
            <a:srgbClr val="0A1533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1984248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7"/>
          <p:cNvSpPr/>
          <p:nvPr/>
        </p:nvSpPr>
        <p:spPr>
          <a:xfrm>
            <a:off x="1161288" y="1984248"/>
            <a:ext cx="137160" cy="13716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1" name="Shape 8"/>
          <p:cNvSpPr/>
          <p:nvPr/>
        </p:nvSpPr>
        <p:spPr>
          <a:xfrm>
            <a:off x="1362456" y="1984248"/>
            <a:ext cx="137160" cy="1371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17373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Records Dashboard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2450592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Site:  All Sites  ▾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51960" y="245059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450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0 ——●————— 10,000 kg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22960" y="3063240"/>
          <a:ext cx="3291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4251960" y="3063240"/>
          <a:ext cx="32461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7891272" y="1600200"/>
            <a:ext cx="3749040" cy="4617720"/>
          </a:xfrm>
          <a:prstGeom prst="roundRect">
            <a:avLst>
              <a:gd name="adj" fmla="val 2439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13816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Dashboard insights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3591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49056" y="22768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leads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share of successful launches across all sites.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29184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49056" y="320954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Low-payload zone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2,000–5,500 kg band shows the strongest success density.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224528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49056" y="41422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heavy payloads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becomes sparse and booster-version dependent above ~6,000 kg.</a:t>
            </a:r>
            <a:endParaRPr lang="en-US" sz="11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5157216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449056" y="5074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+ slider let users isolate any site and payload range live.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Predictive analysis — classification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9436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accuracy by model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48840"/>
          <a:ext cx="5669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656832" y="1600200"/>
            <a:ext cx="49834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0372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Confusion matrix — best model (test set, n=18)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75320" y="2331720"/>
            <a:ext cx="868680" cy="868680"/>
          </a:xfrm>
          <a:prstGeom prst="rect">
            <a:avLst/>
          </a:prstGeom>
          <a:solidFill>
            <a:srgbClr val="3E5A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7532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9144000" y="2331720"/>
            <a:ext cx="868680" cy="868680"/>
          </a:xfrm>
          <a:prstGeom prst="rect">
            <a:avLst/>
          </a:prstGeom>
          <a:solidFill>
            <a:srgbClr val="3E5A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275320" y="3200400"/>
            <a:ext cx="868680" cy="868680"/>
          </a:xfrm>
          <a:prstGeom prst="rect">
            <a:avLst/>
          </a:prstGeom>
          <a:solidFill>
            <a:srgbClr val="E7EDF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7532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9144000" y="3200400"/>
            <a:ext cx="868680" cy="868680"/>
          </a:xfrm>
          <a:prstGeom prst="rect">
            <a:avLst/>
          </a:prstGeom>
          <a:solidFill>
            <a:srgbClr val="0A15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27532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275320" y="4087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land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9144000" y="4087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040880" y="2331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land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040880" y="32004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48640" y="457200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82296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the results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6868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83.3%</a:t>
            </a:r>
            <a:endParaRPr lang="en-US" sz="2300" dirty="0"/>
          </a:p>
        </p:txBody>
      </p:sp>
      <p:sp>
        <p:nvSpPr>
          <p:cNvPr id="28" name="Text 24"/>
          <p:cNvSpPr/>
          <p:nvPr/>
        </p:nvSpPr>
        <p:spPr>
          <a:xfrm>
            <a:off x="868680" y="5596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SVM &amp; KNN tie for best test accuracy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30168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/ 12</a:t>
            </a:r>
            <a:endParaRPr lang="en-US" sz="2300" dirty="0"/>
          </a:p>
        </p:txBody>
      </p:sp>
      <p:sp>
        <p:nvSpPr>
          <p:cNvPr id="30" name="Text 26"/>
          <p:cNvSpPr/>
          <p:nvPr/>
        </p:nvSpPr>
        <p:spPr>
          <a:xfrm>
            <a:off x="3630168" y="5596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landings correctly predicted (perfect recall)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391656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Text 28"/>
          <p:cNvSpPr/>
          <p:nvPr/>
        </p:nvSpPr>
        <p:spPr>
          <a:xfrm>
            <a:off x="6391656" y="5596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— the model's main error mode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9153144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72.2%</a:t>
            </a:r>
            <a:endParaRPr lang="en-US" sz="2300" dirty="0"/>
          </a:p>
        </p:txBody>
      </p:sp>
      <p:sp>
        <p:nvSpPr>
          <p:cNvPr id="34" name="Text 30"/>
          <p:cNvSpPr/>
          <p:nvPr/>
        </p:nvSpPr>
        <p:spPr>
          <a:xfrm>
            <a:off x="9153144" y="5596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overfit, weakest on test data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1533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TEMPLATE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90472" y="7132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Innovative insights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894015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 •  IBM Applied Data Science Capstone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002536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6712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7568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Experience compounds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59536" y="2862072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 of a landing isn't payload or orbit — it's flight number. Success rate rose from 0% (2013) to ~90% (2019), evidence that SpaceX's landing capability is a learned, improving process, not a fixed probability.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6153912" y="1691640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2002536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6712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42632" y="207568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Orbit encodes difficulty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64808" y="2862072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100%-success orbits (SSO, GEO, HEO, ES-L1) tend to carry lighter or more forgiving trajectories, while GTO — energetic, high-velocity — is the hardest to recover from. Orbit is effectively a proxy for landing difficulty.</a:t>
            </a:r>
            <a:endParaRPr lang="en-US" sz="1130" dirty="0"/>
          </a:p>
        </p:txBody>
      </p:sp>
      <p:sp>
        <p:nvSpPr>
          <p:cNvPr id="17" name="Shape 12"/>
          <p:cNvSpPr/>
          <p:nvPr/>
        </p:nvSpPr>
        <p:spPr>
          <a:xfrm>
            <a:off x="548640" y="4032504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4343400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079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4165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Recall over raw accuracy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59536" y="520293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competitor pricing bids, missing a real landing is costlier than a false alarm. The best model's perfect recall (0 missed landings) matters more than the headline accuracy — a business-aware reading of the confusion matrix.</a:t>
            </a:r>
            <a:endParaRPr lang="en-US" sz="1130" dirty="0"/>
          </a:p>
        </p:txBody>
      </p:sp>
      <p:sp>
        <p:nvSpPr>
          <p:cNvPr id="22" name="Shape 16"/>
          <p:cNvSpPr/>
          <p:nvPr/>
        </p:nvSpPr>
        <p:spPr>
          <a:xfrm>
            <a:off x="6153912" y="4032504"/>
            <a:ext cx="54864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7324A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46520" y="4343400"/>
            <a:ext cx="731520" cy="731520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450799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42632" y="44165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Geography is deliberate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464808" y="5202936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pad is coastal and spaced from cities, railways and highways — the Folium proximity analysis shows landing-site placement is an engineered safety decision, not a coincidence.</a:t>
            </a:r>
            <a:endParaRPr lang="en-US" sz="11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227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3657600"/>
            <a:ext cx="6400800" cy="6400800"/>
          </a:xfrm>
          <a:prstGeom prst="ellipse">
            <a:avLst/>
          </a:prstGeom>
          <a:solidFill>
            <a:srgbClr val="11224E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2547" y="1807251"/>
            <a:ext cx="12402" cy="12402"/>
          </a:xfrm>
          <a:prstGeom prst="ellipse">
            <a:avLst/>
          </a:prstGeom>
          <a:solidFill>
            <a:srgbClr val="FFFFFF">
              <a:alpha val="6601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20778" y="2690019"/>
            <a:ext cx="17082" cy="17082"/>
          </a:xfrm>
          <a:prstGeom prst="ellipse">
            <a:avLst/>
          </a:prstGeom>
          <a:solidFill>
            <a:srgbClr val="FFFFFF">
              <a:alpha val="2781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78247" y="1089231"/>
            <a:ext cx="16464" cy="16464"/>
          </a:xfrm>
          <a:prstGeom prst="ellipse">
            <a:avLst/>
          </a:prstGeom>
          <a:solidFill>
            <a:srgbClr val="FFFFFF">
              <a:alpha val="2514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23705" y="4286221"/>
            <a:ext cx="13279" cy="13279"/>
          </a:xfrm>
          <a:prstGeom prst="ellipse">
            <a:avLst/>
          </a:prstGeom>
          <a:solidFill>
            <a:srgbClr val="FFFFFF">
              <a:alpha val="5258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82889" y="1020322"/>
            <a:ext cx="27396" cy="27396"/>
          </a:xfrm>
          <a:prstGeom prst="ellipse">
            <a:avLst/>
          </a:prstGeom>
          <a:solidFill>
            <a:srgbClr val="FFFFFF">
              <a:alpha val="4561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838299" y="4160867"/>
            <a:ext cx="13118" cy="13118"/>
          </a:xfrm>
          <a:prstGeom prst="ellipse">
            <a:avLst/>
          </a:prstGeom>
          <a:solidFill>
            <a:srgbClr val="FFFFFF">
              <a:alpha val="7011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30154" y="1939190"/>
            <a:ext cx="11175" cy="11175"/>
          </a:xfrm>
          <a:prstGeom prst="ellipse">
            <a:avLst/>
          </a:prstGeom>
          <a:solidFill>
            <a:srgbClr val="FFFFFF">
              <a:alpha val="35077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01761" y="2906624"/>
            <a:ext cx="12378" cy="12378"/>
          </a:xfrm>
          <a:prstGeom prst="ellipse">
            <a:avLst/>
          </a:prstGeom>
          <a:solidFill>
            <a:srgbClr val="FFFFFF">
              <a:alpha val="2879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564378" y="3168503"/>
            <a:ext cx="15733" cy="15733"/>
          </a:xfrm>
          <a:prstGeom prst="ellipse">
            <a:avLst/>
          </a:prstGeom>
          <a:solidFill>
            <a:srgbClr val="FFFFFF">
              <a:alpha val="6822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39691" y="6196159"/>
            <a:ext cx="19502" cy="19502"/>
          </a:xfrm>
          <a:prstGeom prst="ellipse">
            <a:avLst/>
          </a:prstGeom>
          <a:solidFill>
            <a:srgbClr val="FFFFFF">
              <a:alpha val="31832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788581" y="6062927"/>
            <a:ext cx="25672" cy="25672"/>
          </a:xfrm>
          <a:prstGeom prst="ellipse">
            <a:avLst/>
          </a:prstGeom>
          <a:solidFill>
            <a:srgbClr val="FFFFFF">
              <a:alpha val="5066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75974" y="2684139"/>
            <a:ext cx="17603" cy="17603"/>
          </a:xfrm>
          <a:prstGeom prst="ellipse">
            <a:avLst/>
          </a:prstGeom>
          <a:solidFill>
            <a:srgbClr val="FFFFFF">
              <a:alpha val="37817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88419" y="1055129"/>
            <a:ext cx="11438" cy="11438"/>
          </a:xfrm>
          <a:prstGeom prst="ellipse">
            <a:avLst/>
          </a:prstGeom>
          <a:solidFill>
            <a:srgbClr val="FFFFFF">
              <a:alpha val="6118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96059" y="1345230"/>
            <a:ext cx="20340" cy="20340"/>
          </a:xfrm>
          <a:prstGeom prst="ellipse">
            <a:avLst/>
          </a:prstGeom>
          <a:solidFill>
            <a:srgbClr val="FFFFFF">
              <a:alpha val="74584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17495" y="421775"/>
            <a:ext cx="12022" cy="12022"/>
          </a:xfrm>
          <a:prstGeom prst="ellipse">
            <a:avLst/>
          </a:prstGeom>
          <a:solidFill>
            <a:srgbClr val="FFFFFF">
              <a:alpha val="5222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438" y="4804098"/>
            <a:ext cx="20510" cy="20510"/>
          </a:xfrm>
          <a:prstGeom prst="ellipse">
            <a:avLst/>
          </a:prstGeom>
          <a:solidFill>
            <a:srgbClr val="FFFFFF">
              <a:alpha val="31453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51994" y="183533"/>
            <a:ext cx="9792" cy="9792"/>
          </a:xfrm>
          <a:prstGeom prst="ellipse">
            <a:avLst/>
          </a:prstGeom>
          <a:solidFill>
            <a:srgbClr val="FFFFFF">
              <a:alpha val="63869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6738" y="953411"/>
            <a:ext cx="12402" cy="12402"/>
          </a:xfrm>
          <a:prstGeom prst="ellipse">
            <a:avLst/>
          </a:prstGeom>
          <a:solidFill>
            <a:srgbClr val="FFFFFF">
              <a:alpha val="74784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31242" y="1441068"/>
            <a:ext cx="19896" cy="19896"/>
          </a:xfrm>
          <a:prstGeom prst="ellipse">
            <a:avLst/>
          </a:prstGeom>
          <a:solidFill>
            <a:srgbClr val="FFFFFF">
              <a:alpha val="7098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92485" y="291835"/>
            <a:ext cx="7440" cy="7440"/>
          </a:xfrm>
          <a:prstGeom prst="ellipse">
            <a:avLst/>
          </a:prstGeom>
          <a:solidFill>
            <a:srgbClr val="FFFFFF">
              <a:alpha val="36859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301498" y="1993047"/>
            <a:ext cx="12037" cy="12037"/>
          </a:xfrm>
          <a:prstGeom prst="ellipse">
            <a:avLst/>
          </a:prstGeom>
          <a:solidFill>
            <a:srgbClr val="FFFFFF">
              <a:alpha val="68822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9235" y="2396037"/>
            <a:ext cx="23008" cy="23008"/>
          </a:xfrm>
          <a:prstGeom prst="ellipse">
            <a:avLst/>
          </a:prstGeom>
          <a:solidFill>
            <a:srgbClr val="FFFFFF">
              <a:alpha val="3311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45331" y="6242138"/>
            <a:ext cx="26695" cy="26695"/>
          </a:xfrm>
          <a:prstGeom prst="ellipse">
            <a:avLst/>
          </a:prstGeom>
          <a:solidFill>
            <a:srgbClr val="FFFFFF">
              <a:alpha val="6688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4488" y="1254684"/>
            <a:ext cx="24338" cy="24338"/>
          </a:xfrm>
          <a:prstGeom prst="ellipse">
            <a:avLst/>
          </a:prstGeom>
          <a:solidFill>
            <a:srgbClr val="FFFFFF">
              <a:alpha val="5267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4215" y="5383007"/>
            <a:ext cx="23140" cy="23140"/>
          </a:xfrm>
          <a:prstGeom prst="ellipse">
            <a:avLst/>
          </a:prstGeom>
          <a:solidFill>
            <a:srgbClr val="FFFFFF">
              <a:alpha val="4616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6632" y="2032441"/>
            <a:ext cx="20617" cy="20617"/>
          </a:xfrm>
          <a:prstGeom prst="ellipse">
            <a:avLst/>
          </a:prstGeom>
          <a:solidFill>
            <a:srgbClr val="FFFFFF">
              <a:alpha val="62282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96895" y="3310320"/>
            <a:ext cx="22482" cy="22482"/>
          </a:xfrm>
          <a:prstGeom prst="ellipse">
            <a:avLst/>
          </a:prstGeom>
          <a:solidFill>
            <a:srgbClr val="FFFFFF">
              <a:alpha val="4467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50589" y="1257976"/>
            <a:ext cx="13585" cy="13585"/>
          </a:xfrm>
          <a:prstGeom prst="ellipse">
            <a:avLst/>
          </a:prstGeom>
          <a:solidFill>
            <a:srgbClr val="FFFFFF">
              <a:alpha val="73473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2491" y="5950744"/>
            <a:ext cx="22735" cy="22735"/>
          </a:xfrm>
          <a:prstGeom prst="ellipse">
            <a:avLst/>
          </a:prstGeom>
          <a:solidFill>
            <a:srgbClr val="FFFFFF">
              <a:alpha val="41383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63124" y="5873956"/>
            <a:ext cx="19882" cy="19882"/>
          </a:xfrm>
          <a:prstGeom prst="ellipse">
            <a:avLst/>
          </a:prstGeom>
          <a:solidFill>
            <a:srgbClr val="FFFFFF">
              <a:alpha val="6316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817848" y="1450946"/>
            <a:ext cx="7756" cy="7756"/>
          </a:xfrm>
          <a:prstGeom prst="ellipse">
            <a:avLst/>
          </a:prstGeom>
          <a:solidFill>
            <a:srgbClr val="FFFFFF">
              <a:alpha val="7837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22399" y="1995047"/>
            <a:ext cx="26344" cy="26344"/>
          </a:xfrm>
          <a:prstGeom prst="ellipse">
            <a:avLst/>
          </a:prstGeom>
          <a:solidFill>
            <a:srgbClr val="FFFFFF">
              <a:alpha val="7752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59278" y="6659592"/>
            <a:ext cx="9830" cy="9830"/>
          </a:xfrm>
          <a:prstGeom prst="ellipse">
            <a:avLst/>
          </a:prstGeom>
          <a:solidFill>
            <a:srgbClr val="FFFFFF">
              <a:alpha val="71459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60398" y="3675915"/>
            <a:ext cx="19063" cy="19063"/>
          </a:xfrm>
          <a:prstGeom prst="ellipse">
            <a:avLst/>
          </a:prstGeom>
          <a:solidFill>
            <a:srgbClr val="FFFFFF">
              <a:alpha val="79205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69068" y="1595349"/>
            <a:ext cx="24737" cy="24737"/>
          </a:xfrm>
          <a:prstGeom prst="ellipse">
            <a:avLst/>
          </a:prstGeom>
          <a:solidFill>
            <a:srgbClr val="FFFFFF">
              <a:alpha val="7902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13153" y="3381228"/>
            <a:ext cx="25857" cy="25857"/>
          </a:xfrm>
          <a:prstGeom prst="ellipse">
            <a:avLst/>
          </a:prstGeom>
          <a:solidFill>
            <a:srgbClr val="FFFFFF">
              <a:alpha val="3290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806037" y="5646884"/>
            <a:ext cx="20685" cy="20685"/>
          </a:xfrm>
          <a:prstGeom prst="ellipse">
            <a:avLst/>
          </a:prstGeom>
          <a:solidFill>
            <a:srgbClr val="FFFFFF">
              <a:alpha val="39293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00294" y="2465652"/>
            <a:ext cx="11209" cy="11209"/>
          </a:xfrm>
          <a:prstGeom prst="ellipse">
            <a:avLst/>
          </a:prstGeom>
          <a:solidFill>
            <a:srgbClr val="FFFFFF">
              <a:alpha val="6424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60851" y="610864"/>
            <a:ext cx="21021" cy="21021"/>
          </a:xfrm>
          <a:prstGeom prst="ellipse">
            <a:avLst/>
          </a:prstGeom>
          <a:solidFill>
            <a:srgbClr val="FFFFFF">
              <a:alpha val="75833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82562" y="5077854"/>
            <a:ext cx="26032" cy="26032"/>
          </a:xfrm>
          <a:prstGeom prst="ellipse">
            <a:avLst/>
          </a:prstGeom>
          <a:solidFill>
            <a:srgbClr val="FFFFFF">
              <a:alpha val="31974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735569" y="2319955"/>
            <a:ext cx="19287" cy="19287"/>
          </a:xfrm>
          <a:prstGeom prst="ellipse">
            <a:avLst/>
          </a:prstGeom>
          <a:solidFill>
            <a:srgbClr val="FFFFFF">
              <a:alpha val="51489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730169" y="2920500"/>
            <a:ext cx="8735" cy="8735"/>
          </a:xfrm>
          <a:prstGeom prst="ellipse">
            <a:avLst/>
          </a:prstGeom>
          <a:solidFill>
            <a:srgbClr val="FFFFFF">
              <a:alpha val="5357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534378" y="6540823"/>
            <a:ext cx="8282" cy="8282"/>
          </a:xfrm>
          <a:prstGeom prst="ellipse">
            <a:avLst/>
          </a:prstGeom>
          <a:solidFill>
            <a:srgbClr val="FFFFFF">
              <a:alpha val="75581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27605" y="5730258"/>
            <a:ext cx="22151" cy="22151"/>
          </a:xfrm>
          <a:prstGeom prst="ellipse">
            <a:avLst/>
          </a:prstGeom>
          <a:solidFill>
            <a:srgbClr val="FFFFFF">
              <a:alpha val="59108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165513" y="1166136"/>
            <a:ext cx="22526" cy="22526"/>
          </a:xfrm>
          <a:prstGeom prst="ellipse">
            <a:avLst/>
          </a:prstGeom>
          <a:solidFill>
            <a:srgbClr val="FFFFFF">
              <a:alpha val="3946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9283" y="891793"/>
            <a:ext cx="21079" cy="21079"/>
          </a:xfrm>
          <a:prstGeom prst="ellipse">
            <a:avLst/>
          </a:prstGeom>
          <a:solidFill>
            <a:srgbClr val="FFFFFF">
              <a:alpha val="78447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195894" y="3552560"/>
            <a:ext cx="13093" cy="13093"/>
          </a:xfrm>
          <a:prstGeom prst="ellipse">
            <a:avLst/>
          </a:prstGeom>
          <a:solidFill>
            <a:srgbClr val="FFFFFF">
              <a:alpha val="50431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86376" y="6777772"/>
            <a:ext cx="15455" cy="15455"/>
          </a:xfrm>
          <a:prstGeom prst="ellipse">
            <a:avLst/>
          </a:prstGeom>
          <a:solidFill>
            <a:srgbClr val="FFFFFF">
              <a:alpha val="51839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83378" y="6418762"/>
            <a:ext cx="17485" cy="17485"/>
          </a:xfrm>
          <a:prstGeom prst="ellipse">
            <a:avLst/>
          </a:prstGeom>
          <a:solidFill>
            <a:srgbClr val="FFFFFF">
              <a:alpha val="5890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84841" y="358863"/>
            <a:ext cx="25642" cy="25642"/>
          </a:xfrm>
          <a:prstGeom prst="ellipse">
            <a:avLst/>
          </a:prstGeom>
          <a:solidFill>
            <a:srgbClr val="FFFFFF">
              <a:alpha val="4379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37162" y="3753409"/>
            <a:ext cx="21050" cy="21050"/>
          </a:xfrm>
          <a:prstGeom prst="ellipse">
            <a:avLst/>
          </a:prstGeom>
          <a:solidFill>
            <a:srgbClr val="FFFFFF">
              <a:alpha val="5402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44460" y="261732"/>
            <a:ext cx="10911" cy="10911"/>
          </a:xfrm>
          <a:prstGeom prst="ellipse">
            <a:avLst/>
          </a:prstGeom>
          <a:solidFill>
            <a:srgbClr val="FFFFFF">
              <a:alpha val="3529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722244" y="721166"/>
            <a:ext cx="12859" cy="12859"/>
          </a:xfrm>
          <a:prstGeom prst="ellipse">
            <a:avLst/>
          </a:prstGeom>
          <a:solidFill>
            <a:srgbClr val="FFFFFF">
              <a:alpha val="57521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45670" y="3523045"/>
            <a:ext cx="12489" cy="12489"/>
          </a:xfrm>
          <a:prstGeom prst="ellipse">
            <a:avLst/>
          </a:prstGeom>
          <a:solidFill>
            <a:srgbClr val="FFFFFF">
              <a:alpha val="64361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08630" y="708701"/>
            <a:ext cx="14768" cy="14768"/>
          </a:xfrm>
          <a:prstGeom prst="ellipse">
            <a:avLst/>
          </a:prstGeom>
          <a:solidFill>
            <a:srgbClr val="FFFFFF">
              <a:alpha val="25933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435900" y="2353469"/>
            <a:ext cx="8272" cy="8272"/>
          </a:xfrm>
          <a:prstGeom prst="ellipse">
            <a:avLst/>
          </a:prstGeom>
          <a:solidFill>
            <a:srgbClr val="FFFFFF">
              <a:alpha val="54955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48001" y="3800681"/>
            <a:ext cx="23300" cy="23300"/>
          </a:xfrm>
          <a:prstGeom prst="ellipse">
            <a:avLst/>
          </a:prstGeom>
          <a:solidFill>
            <a:srgbClr val="FFFFFF">
              <a:alpha val="46177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211990" y="5473671"/>
            <a:ext cx="22350" cy="22350"/>
          </a:xfrm>
          <a:prstGeom prst="ellipse">
            <a:avLst/>
          </a:prstGeom>
          <a:solidFill>
            <a:srgbClr val="FFFFFF">
              <a:alpha val="4917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761910" y="2969772"/>
            <a:ext cx="25291" cy="25291"/>
          </a:xfrm>
          <a:prstGeom prst="ellipse">
            <a:avLst/>
          </a:prstGeom>
          <a:solidFill>
            <a:srgbClr val="FFFFFF">
              <a:alpha val="5442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80257" y="2300317"/>
            <a:ext cx="26660" cy="26660"/>
          </a:xfrm>
          <a:prstGeom prst="ellipse">
            <a:avLst/>
          </a:prstGeom>
          <a:solidFill>
            <a:srgbClr val="FFFFFF">
              <a:alpha val="72809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690643" y="5412640"/>
            <a:ext cx="26952" cy="26952"/>
          </a:xfrm>
          <a:prstGeom prst="ellipse">
            <a:avLst/>
          </a:prstGeom>
          <a:solidFill>
            <a:srgbClr val="FFFFFF">
              <a:alpha val="68332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444680" y="284074"/>
            <a:ext cx="16979" cy="16979"/>
          </a:xfrm>
          <a:prstGeom prst="ellipse">
            <a:avLst/>
          </a:prstGeom>
          <a:solidFill>
            <a:srgbClr val="FFFFFF">
              <a:alpha val="74267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061929" y="3593953"/>
            <a:ext cx="15863" cy="15863"/>
          </a:xfrm>
          <a:prstGeom prst="ellipse">
            <a:avLst/>
          </a:prstGeom>
          <a:solidFill>
            <a:srgbClr val="FFFFFF">
              <a:alpha val="5258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264079" y="5097609"/>
            <a:ext cx="21868" cy="21868"/>
          </a:xfrm>
          <a:prstGeom prst="ellipse">
            <a:avLst/>
          </a:prstGeom>
          <a:solidFill>
            <a:srgbClr val="FFFFFF">
              <a:alpha val="46754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803703" y="5726377"/>
            <a:ext cx="16862" cy="16862"/>
          </a:xfrm>
          <a:prstGeom prst="ellipse">
            <a:avLst/>
          </a:prstGeom>
          <a:solidFill>
            <a:srgbClr val="FFFFFF">
              <a:alpha val="77812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045729" y="5395589"/>
            <a:ext cx="24439" cy="24439"/>
          </a:xfrm>
          <a:prstGeom prst="ellipse">
            <a:avLst/>
          </a:prstGeom>
          <a:solidFill>
            <a:srgbClr val="FFFFFF">
              <a:alpha val="58849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676705" y="2242579"/>
            <a:ext cx="20509" cy="20509"/>
          </a:xfrm>
          <a:prstGeom prst="ellipse">
            <a:avLst/>
          </a:prstGeom>
          <a:solidFill>
            <a:srgbClr val="FFFFFF">
              <a:alpha val="57768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775080" y="3294680"/>
            <a:ext cx="18235" cy="18235"/>
          </a:xfrm>
          <a:prstGeom prst="ellipse">
            <a:avLst/>
          </a:prstGeom>
          <a:solidFill>
            <a:srgbClr val="FFFFFF">
              <a:alpha val="28394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351148" y="5419225"/>
            <a:ext cx="25564" cy="25564"/>
          </a:xfrm>
          <a:prstGeom prst="ellipse">
            <a:avLst/>
          </a:prstGeom>
          <a:solidFill>
            <a:srgbClr val="FFFFFF">
              <a:alpha val="54925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864623" y="1419548"/>
            <a:ext cx="16170" cy="16170"/>
          </a:xfrm>
          <a:prstGeom prst="ellipse">
            <a:avLst/>
          </a:prstGeom>
          <a:solidFill>
            <a:srgbClr val="FFFFFF">
              <a:alpha val="64708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" y="6400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3234E"/>
          </a:solidFill>
          <a:ln w="12700">
            <a:solidFill>
              <a:srgbClr val="5ED3F0"/>
            </a:solidFill>
            <a:prstDash val="solid"/>
          </a:ln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804672"/>
            <a:ext cx="457200" cy="45720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169164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7" name="Text 74"/>
          <p:cNvSpPr/>
          <p:nvPr/>
        </p:nvSpPr>
        <p:spPr>
          <a:xfrm>
            <a:off x="1673352" y="932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6F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learned and what's next</a:t>
            </a:r>
            <a:endParaRPr lang="en-US" sz="2700" dirty="0"/>
          </a:p>
        </p:txBody>
      </p:sp>
      <p:sp>
        <p:nvSpPr>
          <p:cNvPr id="78" name="Shape 75"/>
          <p:cNvSpPr/>
          <p:nvPr/>
        </p:nvSpPr>
        <p:spPr>
          <a:xfrm>
            <a:off x="777240" y="182880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13234E"/>
          </a:solidFill>
          <a:ln w="12700">
            <a:solidFill>
              <a:srgbClr val="29406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1069848" y="2121408"/>
            <a:ext cx="658368" cy="65836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267712"/>
            <a:ext cx="365760" cy="365760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1892808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Findings</a:t>
            </a:r>
            <a:endParaRPr lang="en-US" sz="1600" dirty="0"/>
          </a:p>
        </p:txBody>
      </p:sp>
      <p:sp>
        <p:nvSpPr>
          <p:cNvPr id="82" name="Text 78"/>
          <p:cNvSpPr/>
          <p:nvPr/>
        </p:nvSpPr>
        <p:spPr>
          <a:xfrm>
            <a:off x="1088136" y="30175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is strongly driven by flight experience, orbit type and launch site. Success has risen sharply since 2013, and some orbits land 100% of the time.</a:t>
            </a:r>
            <a:endParaRPr lang="en-US" sz="1180" dirty="0"/>
          </a:p>
        </p:txBody>
      </p:sp>
      <p:sp>
        <p:nvSpPr>
          <p:cNvPr id="83" name="Shape 79"/>
          <p:cNvSpPr/>
          <p:nvPr/>
        </p:nvSpPr>
        <p:spPr>
          <a:xfrm>
            <a:off x="4553712" y="182880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13234E"/>
          </a:solidFill>
          <a:ln w="12700">
            <a:solidFill>
              <a:srgbClr val="29406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4" name="Shape 80"/>
          <p:cNvSpPr/>
          <p:nvPr/>
        </p:nvSpPr>
        <p:spPr>
          <a:xfrm>
            <a:off x="4846320" y="2121408"/>
            <a:ext cx="658368" cy="65836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8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267712"/>
            <a:ext cx="365760" cy="365760"/>
          </a:xfrm>
          <a:prstGeom prst="rect">
            <a:avLst/>
          </a:prstGeom>
        </p:spPr>
      </p:pic>
      <p:sp>
        <p:nvSpPr>
          <p:cNvPr id="86" name="Text 81"/>
          <p:cNvSpPr/>
          <p:nvPr/>
        </p:nvSpPr>
        <p:spPr>
          <a:xfrm>
            <a:off x="5669280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87" name="Text 82"/>
          <p:cNvSpPr/>
          <p:nvPr/>
        </p:nvSpPr>
        <p:spPr>
          <a:xfrm>
            <a:off x="4864608" y="30175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and KNN each reach 83.3% test accuracy with perfect recall on landings, giving a reliable, low-cost way to predict reusability.</a:t>
            </a:r>
            <a:endParaRPr lang="en-US" sz="1180" dirty="0"/>
          </a:p>
        </p:txBody>
      </p:sp>
      <p:sp>
        <p:nvSpPr>
          <p:cNvPr id="88" name="Shape 83"/>
          <p:cNvSpPr/>
          <p:nvPr/>
        </p:nvSpPr>
        <p:spPr>
          <a:xfrm>
            <a:off x="8330184" y="182880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13234E"/>
          </a:solidFill>
          <a:ln w="12700">
            <a:solidFill>
              <a:srgbClr val="29406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9" name="Shape 84"/>
          <p:cNvSpPr/>
          <p:nvPr/>
        </p:nvSpPr>
        <p:spPr>
          <a:xfrm>
            <a:off x="8622792" y="2121408"/>
            <a:ext cx="658368" cy="658368"/>
          </a:xfrm>
          <a:prstGeom prst="ellipse">
            <a:avLst/>
          </a:prstGeom>
          <a:solidFill>
            <a:srgbClr val="0A1533"/>
          </a:solidFill>
          <a:ln/>
        </p:spPr>
      </p:sp>
      <p:pic>
        <p:nvPicPr>
          <p:cNvPr id="9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267712"/>
            <a:ext cx="365760" cy="365760"/>
          </a:xfrm>
          <a:prstGeom prst="rect">
            <a:avLst/>
          </a:prstGeom>
        </p:spPr>
      </p:pic>
      <p:sp>
        <p:nvSpPr>
          <p:cNvPr id="91" name="Text 85"/>
          <p:cNvSpPr/>
          <p:nvPr/>
        </p:nvSpPr>
        <p:spPr>
          <a:xfrm>
            <a:off x="9445752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D3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2" name="Text 86"/>
          <p:cNvSpPr/>
          <p:nvPr/>
        </p:nvSpPr>
        <p:spPr>
          <a:xfrm>
            <a:off x="8641080" y="30175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recent launches, add weather and sea-state features, engineer booster-history variables, and test ensemble models to push accuracy beyond 83%.</a:t>
            </a:r>
            <a:endParaRPr lang="en-US" sz="1180" dirty="0"/>
          </a:p>
        </p:txBody>
      </p:sp>
      <p:sp>
        <p:nvSpPr>
          <p:cNvPr id="93" name="Shape 87"/>
          <p:cNvSpPr/>
          <p:nvPr/>
        </p:nvSpPr>
        <p:spPr>
          <a:xfrm>
            <a:off x="777240" y="4983480"/>
            <a:ext cx="10634472" cy="1234440"/>
          </a:xfrm>
          <a:prstGeom prst="roundRect">
            <a:avLst>
              <a:gd name="adj" fmla="val 8889"/>
            </a:avLst>
          </a:prstGeom>
          <a:solidFill>
            <a:srgbClr val="0E1D46"/>
          </a:solidFill>
          <a:ln w="12700">
            <a:solidFill>
              <a:srgbClr val="29406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9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321808"/>
            <a:ext cx="548640" cy="548640"/>
          </a:xfrm>
          <a:prstGeom prst="rect">
            <a:avLst/>
          </a:prstGeom>
        </p:spPr>
      </p:pic>
      <p:sp>
        <p:nvSpPr>
          <p:cNvPr id="95" name="Text 88">
            <a:hlinkClick r:id="rIdundefined" tooltip=""/>
          </p:cNvPr>
          <p:cNvSpPr/>
          <p:nvPr/>
        </p:nvSpPr>
        <p:spPr>
          <a:xfrm>
            <a:off x="1828800" y="50292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notebooks, the Dash app and this deck are on GitHub
</a:t>
            </a:r>
            <a:pPr indent="0" marL="0">
              <a:buNone/>
            </a:pPr>
            <a:r>
              <a:rPr lang="en-US" sz="1500" b="1" u="sng" dirty="0">
                <a:solidFill>
                  <a:srgbClr val="5ED3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github.com/ParisaMohebbi/IBM_AppliedDataScience_Capstone</a:t>
            </a:r>
            <a:endParaRPr lang="en-US" sz="1200" dirty="0"/>
          </a:p>
        </p:txBody>
      </p:sp>
      <p:sp>
        <p:nvSpPr>
          <p:cNvPr id="96" name="Text 89"/>
          <p:cNvSpPr/>
          <p:nvPr/>
        </p:nvSpPr>
        <p:spPr>
          <a:xfrm>
            <a:off x="8595360" y="50292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1F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
</a:t>
            </a:r>
            <a:pPr algn="r" indent="0" marL="0">
              <a:buNone/>
            </a:pPr>
            <a:r>
              <a:rPr lang="en-US" sz="12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Parisa Vaghfi Mohebbi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Parisa Vaghfi Mohebbi</dc:creator>
  <cp:lastModifiedBy>Parisa Vaghfi Mohebbi</cp:lastModifiedBy>
  <cp:revision>1</cp:revision>
  <dcterms:created xsi:type="dcterms:W3CDTF">2026-07-03T22:18:42Z</dcterms:created>
  <dcterms:modified xsi:type="dcterms:W3CDTF">2026-07-03T22:18:42Z</dcterms:modified>
</cp:coreProperties>
</file>